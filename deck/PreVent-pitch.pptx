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Hero slide. Three real news clippings of hospital cyberattacks.
MIT Tech Review and WIRED both cover the Düsseldorf 2020 death (two outlets confirming).
PBS Wisconsin shows Ascension 2024 — proof the attack class is still with us.
Open to swapping MIT for Business Insurance Medtronic or HFMA Prospect if we want three distinct incidents.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lie: the device reports a healthy patient while the real patient is crashing. CWE-306 class — unsigned command accepted.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Scale: the market we are defending. 460 attacks in 2025. More than half of devices run known-vulnerable firmware.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stages, Human gate highlighted. Every stage writes to one shared row — hardware, simulator, dashboard all read the same truth.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AI at work. Dashboard screenshot shows streaming reasoning, visible confidence, self-correction, and the real patch diff.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proof: same exploit, re-sent after the patch. Before 200 OK (red). After 401 Unauthorized (green). Hard-asserted — no LLM judging.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Compliance: FDA §524B already requires a repeatable find-and-fix process. Every patch leaves this receipt behind.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Scale vision: 1 of 3,412 devices. The dot grid shows one red bed (the device PreVent just patched) in a sea of healed green devices.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+ team. The difference between a patient and a statistic was one button that stopped working — and nobody looking at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PREVENT · CAL HACKS 13.0 · OCT 2026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2B2B2E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 </a:t>
            </a:r>
            <a:pPr indent="0" marL="0">
              <a:buNone/>
            </a:pPr>
            <a:r>
              <a:rPr lang="en-US" sz="1000" spc="3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  EXHIBIT A · THE ATTACK CLASS IS REAL</a:t>
            </a:r>
            <a:endParaRPr lang="en-US" sz="1000" dirty="0"/>
          </a:p>
        </p:txBody>
      </p:sp>
      <p:pic>
        <p:nvPicPr>
          <p:cNvPr id="3" name="Image 0" descr="/Users/sanjavan7/Documents/Startup Projects /calhacks/deck/assets/paper-mit-tr-patient-di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 rot="-180000">
            <a:off x="365760" y="868680"/>
            <a:ext cx="3657600" cy="46634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5760" y="56235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MIT Technology Review</a:t>
            </a:r>
            <a:endParaRPr lang="en-US" sz="1800" dirty="0"/>
          </a:p>
          <a:p>
            <a:pPr algn="ctr" indent="0" marL="0">
              <a:buNone/>
            </a:pPr>
            <a:r>
              <a:rPr lang="en-US" sz="9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PATRICK HOWELL O'NEILL  ·  SEP 18  ·  2020</a:t>
            </a:r>
            <a:endParaRPr lang="en-US" sz="1800" dirty="0"/>
          </a:p>
          <a:p>
            <a:pPr algn="ctr" indent="0" marL="0">
              <a:buNone/>
            </a:pPr>
            <a:r>
              <a:rPr lang="en-US" sz="900" spc="200" kern="0" dirty="0">
                <a:solidFill>
                  <a:srgbClr val="BABA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 documented ransomware death</a:t>
            </a:r>
            <a:endParaRPr lang="en-US" sz="1800" dirty="0"/>
          </a:p>
        </p:txBody>
      </p:sp>
      <p:pic>
        <p:nvPicPr>
          <p:cNvPr id="5" name="Image 1" descr="/Users/sanjavan7/Documents/Startup Projects /calhacks/deck/assets/paper-wired-patient-die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97680" y="685800"/>
            <a:ext cx="3931920" cy="49377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297680" y="571500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WIRED</a:t>
            </a:r>
            <a:endParaRPr lang="en-US" sz="2400" dirty="0"/>
          </a:p>
          <a:p>
            <a:pPr algn="ctr" indent="0" marL="0">
              <a:buNone/>
            </a:pPr>
            <a:r>
              <a:rPr lang="en-US" sz="9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DAN GOODIN  ·  ARS TECHNICA  ·  SEP 19  ·  2020</a:t>
            </a:r>
            <a:endParaRPr lang="en-US" sz="2400" dirty="0"/>
          </a:p>
          <a:p>
            <a:pPr algn="ctr" indent="0" marL="0">
              <a:buNone/>
            </a:pPr>
            <a:r>
              <a:rPr lang="en-US" sz="900" spc="2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 EXHIBIT A —  KNOWN VPN VULN  ·  PATIENT DIED</a:t>
            </a:r>
            <a:endParaRPr lang="en-US" sz="2400" dirty="0"/>
          </a:p>
        </p:txBody>
      </p:sp>
      <p:pic>
        <p:nvPicPr>
          <p:cNvPr id="7" name="Image 2" descr="/Users/sanjavan7/Documents/Startup Projects /calhacks/deck/assets/paper-pbs-ascension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 rot="180000">
            <a:off x="8503920" y="868680"/>
            <a:ext cx="3657600" cy="46634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503920" y="56235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PBS Wisconsin</a:t>
            </a:r>
            <a:endParaRPr lang="en-US" sz="1800" dirty="0"/>
          </a:p>
          <a:p>
            <a:pPr algn="ctr" indent="0" marL="0">
              <a:buNone/>
            </a:pPr>
            <a:r>
              <a:rPr lang="en-US" sz="9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ASSOCIATED PRESS  ·  MAY 9  ·  2024</a:t>
            </a:r>
            <a:endParaRPr lang="en-US" sz="1800" dirty="0"/>
          </a:p>
          <a:p>
            <a:pPr algn="ctr" indent="0" marL="0">
              <a:buNone/>
            </a:pPr>
            <a:r>
              <a:rPr lang="en-US" sz="900" spc="200" kern="0" dirty="0">
                <a:solidFill>
                  <a:srgbClr val="BABA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years later  ·  same attack class</a:t>
            </a:r>
            <a:endParaRPr lang="en-US" sz="1800" dirty="0"/>
          </a:p>
        </p:txBody>
      </p:sp>
      <p:sp>
        <p:nvSpPr>
          <p:cNvPr id="9" name="Text 4"/>
          <p:cNvSpPr txBox="1"/>
          <p:nvPr/>
        </p:nvSpPr>
        <p:spPr>
          <a:xfrm>
            <a:off x="457200" y="626364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BABA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Different outlets. Four years apart.  </a:t>
            </a:r>
            <a:pPr algn="ctr" indent="0" marL="0">
              <a:buNone/>
            </a:pPr>
            <a:r>
              <a:rPr lang="en-US" sz="1100" spc="2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Same known vulnerability class · no tool to find, fix, and verify it at scale.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</a:t>
            </a:r>
            <a:pPr indent="0" marL="0">
              <a:buNone/>
            </a:pPr>
            <a:r>
              <a:rPr lang="en-US" sz="1000" spc="3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  THE ATTACK IS SILENT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77240"/>
            <a:ext cx="11247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device keeps reporting </a:t>
            </a:r>
            <a:pPr indent="0" marL="0">
              <a:buNone/>
            </a:pPr>
            <a:r>
              <a:rPr lang="en-US" sz="4400" i="1" spc="-100" kern="0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"normal."</a:t>
            </a:r>
            <a:pPr indent="0" marL="0">
              <a:buNone/>
            </a:pPr>
            <a:endParaRPr lang="en-US" sz="4400" dirty="0"/>
          </a:p>
          <a:p>
            <a:pPr indent="0" marL="0">
              <a:buNone/>
            </a:pPr>
            <a:r>
              <a:rPr lang="en-US" sz="4400" b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patient keeps crashing.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457200" y="3017520"/>
            <a:ext cx="5577840" cy="2377440"/>
          </a:xfrm>
          <a:prstGeom prst="rect">
            <a:avLst/>
          </a:prstGeom>
          <a:solidFill>
            <a:srgbClr val="101013"/>
          </a:solidFill>
          <a:ln w="12700">
            <a:solidFill>
              <a:srgbClr val="2B2B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200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THE SCREEN DISPLAYS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52044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0" b="1" spc="-200" kern="0" dirty="0">
                <a:solidFill>
                  <a:srgbClr val="BABA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HR  </a:t>
            </a:r>
            <a:pPr indent="0" marL="0">
              <a:buNone/>
            </a:pPr>
            <a:r>
              <a:rPr lang="en-US" sz="9200" b="1" spc="-200" kern="0" dirty="0">
                <a:solidFill>
                  <a:srgbClr val="22E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pPr indent="0" marL="0">
              <a:buNone/>
            </a:pPr>
            <a:r>
              <a:rPr lang="en-US" sz="5000" b="1" spc="-200" kern="0" dirty="0">
                <a:solidFill>
                  <a:srgbClr val="BABA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SpO2  </a:t>
            </a:r>
            <a:pPr indent="0" marL="0">
              <a:buNone/>
            </a:pPr>
            <a:r>
              <a:rPr lang="en-US" sz="9200" b="1" spc="-200" kern="0" dirty="0">
                <a:solidFill>
                  <a:srgbClr val="22E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9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937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AB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reads. Alarm silent. Monitor insists the patient is fine.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72200" y="3017520"/>
            <a:ext cx="5577840" cy="2377440"/>
          </a:xfrm>
          <a:prstGeom prst="rect">
            <a:avLst/>
          </a:prstGeom>
          <a:solidFill>
            <a:srgbClr val="20080A"/>
          </a:solidFill>
          <a:ln w="12700">
            <a:solidFill>
              <a:srgbClr val="FF2D4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46520" y="3200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THE PATIENT ACTUALLY HAS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352044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0" b="1" spc="-200" kern="0" dirty="0">
                <a:solidFill>
                  <a:srgbClr val="BABA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HR  </a:t>
            </a:r>
            <a:pPr indent="0" marL="0">
              <a:buNone/>
            </a:pPr>
            <a:r>
              <a:rPr lang="en-US" sz="9200" b="1" spc="-200" kern="0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pPr indent="0" marL="0">
              <a:buNone/>
            </a:pPr>
            <a:r>
              <a:rPr lang="en-US" sz="5000" b="1" spc="-200" kern="0" dirty="0">
                <a:solidFill>
                  <a:srgbClr val="BABA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SpO2  </a:t>
            </a:r>
            <a:pPr indent="0" marL="0">
              <a:buNone/>
            </a:pPr>
            <a:r>
              <a:rPr lang="en-US" sz="9200" b="1" spc="-200" kern="0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76%</a:t>
            </a:r>
            <a:endParaRPr lang="en-US" sz="9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4937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AB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 stopped. Respiration flat. The alarm was suppressed by the attacker.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58978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BABA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doctor sees the difference.  →  </a:t>
            </a:r>
            <a:pPr algn="ctr" indent="0" marL="0">
              <a:buNone/>
            </a:pPr>
            <a:r>
              <a:rPr lang="en-US" sz="2000" b="1" i="1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is why these attacks kill.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</a:t>
            </a:r>
            <a:pPr indent="0" marL="0">
              <a:buNone/>
            </a:pPr>
            <a:r>
              <a:rPr lang="en-US" sz="1000" spc="3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  THE MARKET WE'RE DEFENDING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77240"/>
            <a:ext cx="11247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Ransomware doesn't break the device —</a:t>
            </a:r>
            <a:pPr indent="0" marL="0">
              <a:buNone/>
            </a:pPr>
            <a:endParaRPr lang="en-US" sz="4000" dirty="0"/>
          </a:p>
          <a:p>
            <a:pPr indent="0" marL="0">
              <a:buNone/>
            </a:pPr>
            <a:r>
              <a:rPr lang="en-US" sz="4000" b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</a:t>
            </a:r>
            <a:endParaRPr lang="en-US" sz="4000" dirty="0"/>
          </a:p>
          <a:p>
            <a:pPr indent="0" marL="0">
              <a:buNone/>
            </a:pPr>
            <a:r>
              <a:rPr lang="en-US" sz="4000" b="1" i="1" spc="-100" kern="0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pivots through it.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3017520"/>
            <a:ext cx="5394960" cy="0"/>
          </a:xfrm>
          <a:prstGeom prst="line">
            <a:avLst/>
          </a:prstGeom>
          <a:noFill/>
          <a:ln w="9525">
            <a:solidFill>
              <a:srgbClr val="2B2B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3108960"/>
            <a:ext cx="5394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0" b="1" spc="-800" kern="0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460</a:t>
            </a:r>
            <a:endParaRPr lang="en-US" sz="22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521208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 healthcare cyberattacks in </a:t>
            </a:r>
            <a:pPr indent="0" marL="0">
              <a:buNone/>
            </a:pPr>
            <a:r>
              <a:rPr lang="en-US" sz="2000" b="1" i="1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2025. </a:t>
            </a:r>
            <a:pPr indent="0" marL="0">
              <a:buNone/>
            </a:pPr>
            <a:r>
              <a:rPr lang="en-US" sz="2000" i="1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 from 249 in 2023.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0350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FBI IC3  ·  2025 ANNUAL REPORT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09360" y="3017520"/>
            <a:ext cx="5394960" cy="0"/>
          </a:xfrm>
          <a:prstGeom prst="line">
            <a:avLst/>
          </a:prstGeom>
          <a:noFill/>
          <a:ln w="9525">
            <a:solidFill>
              <a:srgbClr val="2B2B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9360" y="3108960"/>
            <a:ext cx="5394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spc="-8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~53%</a:t>
            </a:r>
            <a:endParaRPr lang="en-US" sz="2000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521208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connected medical devices carry a </a:t>
            </a:r>
            <a:pPr indent="0" marL="0">
              <a:buNone/>
            </a:pPr>
            <a:r>
              <a:rPr lang="en-US" sz="2000" b="1" i="1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known</a:t>
            </a:r>
            <a:pPr indent="0" marL="0">
              <a:buNone/>
            </a:pPr>
            <a:r>
              <a:rPr lang="en-US" sz="2000" i="1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critical vulnerability. Nobody writes the patch.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60350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CLAROTY  ·  MEDIGATE  ·  2024 FLEET SURVEYS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</a:t>
            </a:r>
            <a:pPr indent="0" marL="0">
              <a:buNone/>
            </a:pPr>
            <a:r>
              <a:rPr lang="en-US" sz="1000" spc="3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  WHAT WE BUILT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77240"/>
            <a:ext cx="11247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loop.
</a:t>
            </a:r>
            <a:pPr indent="0" marL="0">
              <a:buNone/>
            </a:pPr>
            <a:r>
              <a:rPr lang="en-US" sz="4200" b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Visible </a:t>
            </a:r>
            <a:pPr indent="0" marL="0">
              <a:buNone/>
            </a:pPr>
            <a:r>
              <a:rPr lang="en-US" sz="4200" b="1" i="1" spc="-100" kern="0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 to end.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457200" y="2816352"/>
            <a:ext cx="11247120" cy="0"/>
          </a:xfrm>
          <a:prstGeom prst="line">
            <a:avLst/>
          </a:prstGeom>
          <a:noFill/>
          <a:ln w="6350">
            <a:solidFill>
              <a:srgbClr val="2B2B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2926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29077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  </a:t>
            </a:r>
            <a:pPr indent="0" marL="0">
              <a:buNone/>
            </a:pPr>
            <a:r>
              <a:rPr lang="en-US" sz="1400" i="1" dirty="0">
                <a:solidFill>
                  <a:srgbClr val="BABA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CVE-2019-6538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296265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AB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the real CVE from NVD. Not fabricated.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332720" y="296265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NVD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319272"/>
            <a:ext cx="11247120" cy="0"/>
          </a:xfrm>
          <a:prstGeom prst="line">
            <a:avLst/>
          </a:prstGeom>
          <a:noFill/>
          <a:ln w="6350">
            <a:solidFill>
              <a:srgbClr val="2B2B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34290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41071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Scan  </a:t>
            </a:r>
            <a:pPr indent="0" marL="0">
              <a:buNone/>
            </a:pPr>
            <a:r>
              <a:rPr lang="en-US" sz="1400" i="1" dirty="0">
                <a:solidFill>
                  <a:srgbClr val="BABA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app.py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346557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AB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SemGrep + Bandit run deterministic rules. Claude triages the real finding.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0332720" y="346557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SEMGREP · BANDIT · CLAUDE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822192"/>
            <a:ext cx="11247120" cy="0"/>
          </a:xfrm>
          <a:prstGeom prst="line">
            <a:avLst/>
          </a:prstGeom>
          <a:noFill/>
          <a:ln w="6350">
            <a:solidFill>
              <a:srgbClr val="2B2B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39319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3913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Exploit  </a:t>
            </a:r>
            <a:pPr indent="0" marL="0">
              <a:buNone/>
            </a:pPr>
            <a:r>
              <a:rPr lang="en-US" sz="1400" i="1" dirty="0">
                <a:solidFill>
                  <a:srgbClr val="BABA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 /device/command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96849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AB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Open-weight model writes the PoC payload. Device obeys.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0332720" y="396849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PoC PAYLOAD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4325112"/>
            <a:ext cx="11247120" cy="0"/>
          </a:xfrm>
          <a:prstGeom prst="line">
            <a:avLst/>
          </a:prstGeom>
          <a:noFill/>
          <a:ln w="6350">
            <a:solidFill>
              <a:srgbClr val="2B2B2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44348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645920" y="441655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Patch  </a:t>
            </a:r>
            <a:pPr indent="0" marL="0">
              <a:buNone/>
            </a:pPr>
            <a:r>
              <a:rPr lang="en-US" sz="1400" i="1" dirty="0">
                <a:solidFill>
                  <a:srgbClr val="BABA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 X-Device-Token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447141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AB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Droid writes a real git diff. 41/41 unit tests green.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0332720" y="447141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FACTORY DROID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4818888"/>
            <a:ext cx="11247120" cy="484632"/>
          </a:xfrm>
          <a:prstGeom prst="rect">
            <a:avLst/>
          </a:prstGeom>
          <a:solidFill>
            <a:srgbClr val="1F0609"/>
          </a:solidFill>
          <a:ln w="9525">
            <a:solidFill>
              <a:srgbClr val="FF2D4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· gate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1645920" y="49194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 </a:t>
            </a:r>
            <a:pPr indent="0" marL="0">
              <a:buNone/>
            </a:pPr>
            <a:r>
              <a:rPr lang="en-US" sz="1400" i="1" dirty="0">
                <a:solidFill>
                  <a:srgbClr val="BABA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 &amp; deploy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497433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AB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sign-off. Tool-scoped, process-boundary, identity-check.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332720" y="497433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REQUIRED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5330952"/>
            <a:ext cx="11247120" cy="0"/>
          </a:xfrm>
          <a:prstGeom prst="line">
            <a:avLst/>
          </a:prstGeom>
          <a:noFill/>
          <a:ln w="6350">
            <a:solidFill>
              <a:srgbClr val="2B2B2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54406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645920" y="54223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  </a:t>
            </a:r>
            <a:pPr indent="0" marL="0">
              <a:buNone/>
            </a:pPr>
            <a:r>
              <a:rPr lang="en-US" sz="1400" i="1" dirty="0">
                <a:solidFill>
                  <a:srgbClr val="BABA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re-run the same bytes</a:t>
            </a:r>
            <a:endParaRPr lang="en-US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547725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AB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the exact exploit. Hard-asserted status code — no LLM in the loop.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0332720" y="547725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BYTE-FOR-BYTE REPLAY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57200" y="5833872"/>
            <a:ext cx="11247120" cy="0"/>
          </a:xfrm>
          <a:prstGeom prst="line">
            <a:avLst/>
          </a:prstGeom>
          <a:noFill/>
          <a:ln w="6350">
            <a:solidFill>
              <a:srgbClr val="2B2B2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94360" y="5943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1645920" y="592531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Restore  </a:t>
            </a:r>
            <a:pPr indent="0" marL="0">
              <a:buNone/>
            </a:pPr>
            <a:r>
              <a:rPr lang="en-US" sz="1400" i="1" dirty="0">
                <a:solidFill>
                  <a:srgbClr val="BABA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healthy baseline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6492240" y="598017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AB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back online. Receipt signed. Audit queue notified.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0332720" y="598017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SIGNED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63093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BABA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hole.  </a:t>
            </a:r>
            <a:pPr algn="l" indent="0" marL="0">
              <a:buNone/>
            </a:pPr>
            <a:r>
              <a:rPr lang="en-US" sz="1800" b="1" i="1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 the kill.  </a:t>
            </a:r>
            <a:pPr algn="l" indent="0" marL="0">
              <a:buNone/>
            </a:pPr>
            <a:r>
              <a:rPr lang="en-US" sz="1800" i="1" dirty="0">
                <a:solidFill>
                  <a:srgbClr val="BABA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 it.  Show the receipt.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</a:t>
            </a:r>
            <a:pPr indent="0" marL="0">
              <a:buNone/>
            </a:pPr>
            <a:r>
              <a:rPr lang="en-US" sz="1000" spc="3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  CLAUDE, OUT LOUD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7724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shows its work —
</a:t>
            </a:r>
            <a:pPr indent="0" marL="0">
              <a:buNone/>
            </a:pPr>
            <a:r>
              <a:rPr lang="en-US" sz="3800" b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</a:t>
            </a:r>
            <a:pPr indent="0" marL="0">
              <a:buNone/>
            </a:pPr>
            <a:r>
              <a:rPr lang="en-US" sz="3800" b="1" i="1" spc="-100" kern="0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catches itself.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365760" y="2560320"/>
            <a:ext cx="6035040" cy="3840480"/>
          </a:xfrm>
          <a:prstGeom prst="rect">
            <a:avLst/>
          </a:prstGeom>
          <a:solidFill>
            <a:srgbClr val="101013"/>
          </a:solidFill>
          <a:ln w="12700">
            <a:solidFill>
              <a:srgbClr val="2B2B2E"/>
            </a:solidFill>
            <a:prstDash val="solid"/>
          </a:ln>
        </p:spPr>
      </p:sp>
      <p:pic>
        <p:nvPicPr>
          <p:cNvPr id="5" name="Image 0" descr="/Users/sanjavan7/Documents/Startup Projects /calhacks/deck/assets/dashboard_patc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2651760"/>
            <a:ext cx="5852160" cy="3657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65760" y="2606040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· PREVENT DASHBOARD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583680" y="2514600"/>
            <a:ext cx="5212080" cy="0"/>
          </a:xfrm>
          <a:prstGeom prst="line">
            <a:avLst/>
          </a:prstGeom>
          <a:noFill/>
          <a:ln w="6350">
            <a:solidFill>
              <a:srgbClr val="2B2B2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75120" y="26060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269480" y="267919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STREAMING REASONING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7269480" y="294436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agent reads app.py line-by-line, visibly cross-checks the auth decorator.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583680" y="3502152"/>
            <a:ext cx="5212080" cy="0"/>
          </a:xfrm>
          <a:prstGeom prst="line">
            <a:avLst/>
          </a:prstGeom>
          <a:noFill/>
          <a:ln w="6350">
            <a:solidFill>
              <a:srgbClr val="2B2B2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75120" y="35935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269480" y="366674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VISIBLE CONFIDENCE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7269480" y="393192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72% on the real finding, 58% after it rejects its own first patch.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583680" y="4489704"/>
            <a:ext cx="5212080" cy="0"/>
          </a:xfrm>
          <a:prstGeom prst="line">
            <a:avLst/>
          </a:prstGeom>
          <a:noFill/>
          <a:ln w="6350">
            <a:solidFill>
              <a:srgbClr val="2B2B2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675120" y="458114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7269480" y="465429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SELF-CORRECTION EVENT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7269480" y="491947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"REJECTED my own patch — v1 broke the emergency override path."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583680" y="5477256"/>
            <a:ext cx="5212080" cy="0"/>
          </a:xfrm>
          <a:prstGeom prst="line">
            <a:avLst/>
          </a:prstGeom>
          <a:noFill/>
          <a:ln w="6350">
            <a:solidFill>
              <a:srgbClr val="2B2B2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675120" y="556869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7269480" y="564184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AUTONOMOUS PATCH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7269480" y="590702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Droid produces a real git diff. 41 / 41 unit tests green.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</a:t>
            </a:r>
            <a:pPr indent="0" marL="0">
              <a:buNone/>
            </a:pPr>
            <a:r>
              <a:rPr lang="en-US" sz="1000" spc="3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  PROOF, NOT PROSE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77240"/>
            <a:ext cx="11247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re-run the exact exploit.
</a:t>
            </a:r>
            <a:pPr indent="0" marL="0">
              <a:buNone/>
            </a:pPr>
            <a:r>
              <a:rPr lang="en-US" sz="4000" b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must now </a:t>
            </a:r>
            <a:pPr indent="0" marL="0">
              <a:buNone/>
            </a:pPr>
            <a:r>
              <a:rPr lang="en-US" sz="4000" b="1" i="1" spc="-100" kern="0" dirty="0">
                <a:solidFill>
                  <a:srgbClr val="22E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83464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0" b="1" spc="-800" kern="0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</a:t>
            </a:r>
            <a:endParaRPr lang="en-US" sz="26000" dirty="0"/>
          </a:p>
        </p:txBody>
      </p:sp>
      <p:sp>
        <p:nvSpPr>
          <p:cNvPr id="5" name="Text 3"/>
          <p:cNvSpPr txBox="1"/>
          <p:nvPr/>
        </p:nvSpPr>
        <p:spPr>
          <a:xfrm>
            <a:off x="4114800" y="3108960"/>
            <a:ext cx="1280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0" dirty="0">
                <a:solidFill>
                  <a:srgbClr val="7777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1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283464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0" b="1" spc="-800" kern="0" dirty="0">
                <a:solidFill>
                  <a:srgbClr val="22E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401</a:t>
            </a:r>
            <a:endParaRPr lang="en-US" sz="26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14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3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BEFORE PATCH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0" y="2514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3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AFTER PATCH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9006840" y="2743200"/>
            <a:ext cx="2834640" cy="3017520"/>
          </a:xfrm>
          <a:prstGeom prst="rect">
            <a:avLst/>
          </a:prstGeom>
          <a:solidFill>
            <a:srgbClr val="101013"/>
          </a:solidFill>
          <a:ln w="12700">
            <a:solidFill>
              <a:srgbClr val="2B2B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89720" y="29077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VERIFICATION · BYTE-FOR-BYTE REPLAY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9189720" y="3246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Before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012680" y="32461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/device/command → 200 OK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012680" y="3749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fan stops · alarm silent · patient crashing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9189720" y="4251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After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012680" y="42519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E0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/device/command → 401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012680" y="4754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fan running · alarm armed · patient breathing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9189720" y="5257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Judged by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012680" y="52578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BA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hard-asserted status code · no LLM in the loop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2179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BABA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 or fail. </a:t>
            </a:r>
            <a:pPr algn="l" indent="0" marL="0">
              <a:buNone/>
            </a:pPr>
            <a:r>
              <a:rPr lang="en-US" sz="1800" b="1" i="1" dirty="0">
                <a:solidFill>
                  <a:srgbClr val="22E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middle ground.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</a:t>
            </a:r>
            <a:pPr indent="0" marL="0">
              <a:buNone/>
            </a:pPr>
            <a:r>
              <a:rPr lang="en-US" sz="1000" spc="3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  COMPLIANCE PAYS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77240"/>
            <a:ext cx="11247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receipt the FDA
</a:t>
            </a:r>
            <a:pPr indent="0" marL="0">
              <a:buNone/>
            </a:pPr>
            <a:r>
              <a:rPr lang="en-US" sz="4200" b="1" i="1" spc="-100" kern="0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already asks for.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2286000" y="2743200"/>
            <a:ext cx="7589520" cy="3566160"/>
          </a:xfrm>
          <a:prstGeom prst="rect">
            <a:avLst/>
          </a:prstGeom>
          <a:solidFill>
            <a:srgbClr val="101013"/>
          </a:solidFill>
          <a:ln w="12700">
            <a:solidFill>
              <a:srgbClr val="2B2B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651760" y="29718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FDA §524B  ·  AUDITABLE RECEIPT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651760" y="32918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VENT-SIM / Lab unit </a:t>
            </a:r>
            <a:pPr indent="0" marL="0">
              <a:buNone/>
            </a:pPr>
            <a:r>
              <a:rPr lang="en-US" sz="2400" b="1" i="1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#0001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2651760" y="3977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Finding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39776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FA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CWE-306 · CVE-2019-6538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651760" y="4251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Scanner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42519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FA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SemGrep 1.182.1 · Bandit 1.9.4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Patch author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45262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FA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Factory Droid · scoped CLI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651760" y="4800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Approved by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48006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FA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human@ops · identity-signed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651760" y="5074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Verify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50749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FA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same exploit → 401 after fix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5349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SBOM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5349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FA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attached · 73 packages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2651760" y="5623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Reproduce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0" y="56235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FA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· diff + exploit payload sealed to this record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3093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22E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 Sealed and queued to clinical engineering  ·  </a:t>
            </a:r>
            <a:pPr algn="ctr" indent="0" marL="0">
              <a:buNone/>
            </a:pPr>
            <a:r>
              <a:rPr lang="en-US" sz="110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2026-10-24 11:17 PDT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</a:t>
            </a:r>
            <a:pPr indent="0" marL="0">
              <a:buNone/>
            </a:pPr>
            <a:r>
              <a:rPr lang="en-US" sz="1000" spc="3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  ONE DEVICE TODAY. THOUSANDS TOMORROW.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77240"/>
            <a:ext cx="11247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Patch one room.
</a:t>
            </a:r>
            <a:pPr indent="0" marL="0">
              <a:buNone/>
            </a:pPr>
            <a:r>
              <a:rPr lang="en-US" sz="4200" b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</a:t>
            </a:r>
            <a:pPr indent="0" marL="0">
              <a:buNone/>
            </a:pPr>
            <a:r>
              <a:rPr lang="en-US" sz="4200" b="1" i="1" spc="-100" kern="0" dirty="0">
                <a:solidFill>
                  <a:srgbClr val="22E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heal-wave</a:t>
            </a:r>
            <a:pPr indent="0" marL="0">
              <a:buNone/>
            </a:pPr>
            <a:r>
              <a:rPr lang="en-US" sz="4200" b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rolls across the ward.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2608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i="1" dirty="0">
                <a:solidFill>
                  <a:srgbClr val="BABA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of</a:t>
            </a:r>
            <a:endParaRPr lang="en-US" sz="5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56616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0" b="1" spc="-800" kern="0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3,412</a:t>
            </a:r>
            <a:endParaRPr lang="en-US" sz="22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AB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in a single hospital system  ·  every one a parallel find→fix→verify job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72250" y="28712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8" name="Shape 6"/>
          <p:cNvSpPr/>
          <p:nvPr/>
        </p:nvSpPr>
        <p:spPr>
          <a:xfrm>
            <a:off x="6841998" y="28712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9" name="Shape 7"/>
          <p:cNvSpPr/>
          <p:nvPr/>
        </p:nvSpPr>
        <p:spPr>
          <a:xfrm>
            <a:off x="7111746" y="28712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0" name="Shape 8"/>
          <p:cNvSpPr/>
          <p:nvPr/>
        </p:nvSpPr>
        <p:spPr>
          <a:xfrm>
            <a:off x="7381494" y="28712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1" name="Shape 9"/>
          <p:cNvSpPr/>
          <p:nvPr/>
        </p:nvSpPr>
        <p:spPr>
          <a:xfrm>
            <a:off x="7651242" y="28712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2" name="Shape 10"/>
          <p:cNvSpPr/>
          <p:nvPr/>
        </p:nvSpPr>
        <p:spPr>
          <a:xfrm>
            <a:off x="7920990" y="28712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3" name="Shape 11"/>
          <p:cNvSpPr/>
          <p:nvPr/>
        </p:nvSpPr>
        <p:spPr>
          <a:xfrm>
            <a:off x="8190738" y="28712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4" name="Shape 12"/>
          <p:cNvSpPr/>
          <p:nvPr/>
        </p:nvSpPr>
        <p:spPr>
          <a:xfrm>
            <a:off x="8460486" y="28712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5" name="Shape 13"/>
          <p:cNvSpPr/>
          <p:nvPr/>
        </p:nvSpPr>
        <p:spPr>
          <a:xfrm>
            <a:off x="8730234" y="28712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6" name="Shape 14"/>
          <p:cNvSpPr/>
          <p:nvPr/>
        </p:nvSpPr>
        <p:spPr>
          <a:xfrm>
            <a:off x="8999982" y="28712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7" name="Shape 15"/>
          <p:cNvSpPr/>
          <p:nvPr/>
        </p:nvSpPr>
        <p:spPr>
          <a:xfrm>
            <a:off x="9269730" y="28712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8" name="Shape 16"/>
          <p:cNvSpPr/>
          <p:nvPr/>
        </p:nvSpPr>
        <p:spPr>
          <a:xfrm>
            <a:off x="9539478" y="28712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9" name="Shape 17"/>
          <p:cNvSpPr/>
          <p:nvPr/>
        </p:nvSpPr>
        <p:spPr>
          <a:xfrm>
            <a:off x="9809226" y="28712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20" name="Shape 18"/>
          <p:cNvSpPr/>
          <p:nvPr/>
        </p:nvSpPr>
        <p:spPr>
          <a:xfrm>
            <a:off x="10078974" y="28712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21" name="Shape 19"/>
          <p:cNvSpPr/>
          <p:nvPr/>
        </p:nvSpPr>
        <p:spPr>
          <a:xfrm>
            <a:off x="10348722" y="28712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22" name="Shape 20"/>
          <p:cNvSpPr/>
          <p:nvPr/>
        </p:nvSpPr>
        <p:spPr>
          <a:xfrm>
            <a:off x="10618470" y="28712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23" name="Shape 21"/>
          <p:cNvSpPr/>
          <p:nvPr/>
        </p:nvSpPr>
        <p:spPr>
          <a:xfrm>
            <a:off x="10888218" y="28712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24" name="Shape 22"/>
          <p:cNvSpPr/>
          <p:nvPr/>
        </p:nvSpPr>
        <p:spPr>
          <a:xfrm>
            <a:off x="11157966" y="28712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25" name="Shape 23"/>
          <p:cNvSpPr/>
          <p:nvPr/>
        </p:nvSpPr>
        <p:spPr>
          <a:xfrm>
            <a:off x="11427714" y="28712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26" name="Shape 24"/>
          <p:cNvSpPr/>
          <p:nvPr/>
        </p:nvSpPr>
        <p:spPr>
          <a:xfrm>
            <a:off x="11697462" y="28712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27" name="Shape 25"/>
          <p:cNvSpPr/>
          <p:nvPr/>
        </p:nvSpPr>
        <p:spPr>
          <a:xfrm>
            <a:off x="6572250" y="32369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28" name="Shape 26"/>
          <p:cNvSpPr/>
          <p:nvPr/>
        </p:nvSpPr>
        <p:spPr>
          <a:xfrm>
            <a:off x="6841998" y="32369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29" name="Shape 27"/>
          <p:cNvSpPr/>
          <p:nvPr/>
        </p:nvSpPr>
        <p:spPr>
          <a:xfrm>
            <a:off x="7111746" y="32369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30" name="Shape 28"/>
          <p:cNvSpPr/>
          <p:nvPr/>
        </p:nvSpPr>
        <p:spPr>
          <a:xfrm>
            <a:off x="7381494" y="32369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31" name="Shape 29"/>
          <p:cNvSpPr/>
          <p:nvPr/>
        </p:nvSpPr>
        <p:spPr>
          <a:xfrm>
            <a:off x="7651242" y="32369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32" name="Shape 30"/>
          <p:cNvSpPr/>
          <p:nvPr/>
        </p:nvSpPr>
        <p:spPr>
          <a:xfrm>
            <a:off x="7920990" y="32369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33" name="Shape 31"/>
          <p:cNvSpPr/>
          <p:nvPr/>
        </p:nvSpPr>
        <p:spPr>
          <a:xfrm>
            <a:off x="8190738" y="32369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34" name="Shape 32"/>
          <p:cNvSpPr/>
          <p:nvPr/>
        </p:nvSpPr>
        <p:spPr>
          <a:xfrm>
            <a:off x="8460486" y="32369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35" name="Shape 33"/>
          <p:cNvSpPr/>
          <p:nvPr/>
        </p:nvSpPr>
        <p:spPr>
          <a:xfrm>
            <a:off x="8730234" y="32369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36" name="Shape 34"/>
          <p:cNvSpPr/>
          <p:nvPr/>
        </p:nvSpPr>
        <p:spPr>
          <a:xfrm>
            <a:off x="8999982" y="32369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37" name="Shape 35"/>
          <p:cNvSpPr/>
          <p:nvPr/>
        </p:nvSpPr>
        <p:spPr>
          <a:xfrm>
            <a:off x="9269730" y="32369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38" name="Shape 36"/>
          <p:cNvSpPr/>
          <p:nvPr/>
        </p:nvSpPr>
        <p:spPr>
          <a:xfrm>
            <a:off x="9539478" y="32369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39" name="Shape 37"/>
          <p:cNvSpPr/>
          <p:nvPr/>
        </p:nvSpPr>
        <p:spPr>
          <a:xfrm>
            <a:off x="9809226" y="32369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40" name="Shape 38"/>
          <p:cNvSpPr/>
          <p:nvPr/>
        </p:nvSpPr>
        <p:spPr>
          <a:xfrm>
            <a:off x="10078974" y="32369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41" name="Shape 39"/>
          <p:cNvSpPr/>
          <p:nvPr/>
        </p:nvSpPr>
        <p:spPr>
          <a:xfrm>
            <a:off x="10348722" y="32369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42" name="Shape 40"/>
          <p:cNvSpPr/>
          <p:nvPr/>
        </p:nvSpPr>
        <p:spPr>
          <a:xfrm>
            <a:off x="10618470" y="32369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43" name="Shape 41"/>
          <p:cNvSpPr/>
          <p:nvPr/>
        </p:nvSpPr>
        <p:spPr>
          <a:xfrm>
            <a:off x="10888218" y="32369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44" name="Shape 42"/>
          <p:cNvSpPr/>
          <p:nvPr/>
        </p:nvSpPr>
        <p:spPr>
          <a:xfrm>
            <a:off x="11157966" y="32369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45" name="Shape 43"/>
          <p:cNvSpPr/>
          <p:nvPr/>
        </p:nvSpPr>
        <p:spPr>
          <a:xfrm>
            <a:off x="11427714" y="32369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46" name="Shape 44"/>
          <p:cNvSpPr/>
          <p:nvPr/>
        </p:nvSpPr>
        <p:spPr>
          <a:xfrm>
            <a:off x="11697462" y="32369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47" name="Shape 45"/>
          <p:cNvSpPr/>
          <p:nvPr/>
        </p:nvSpPr>
        <p:spPr>
          <a:xfrm>
            <a:off x="6572250" y="36027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48" name="Shape 46"/>
          <p:cNvSpPr/>
          <p:nvPr/>
        </p:nvSpPr>
        <p:spPr>
          <a:xfrm>
            <a:off x="6841998" y="36027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49" name="Shape 47"/>
          <p:cNvSpPr/>
          <p:nvPr/>
        </p:nvSpPr>
        <p:spPr>
          <a:xfrm>
            <a:off x="7111746" y="36027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50" name="Shape 48"/>
          <p:cNvSpPr/>
          <p:nvPr/>
        </p:nvSpPr>
        <p:spPr>
          <a:xfrm>
            <a:off x="7381494" y="36027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51" name="Shape 49"/>
          <p:cNvSpPr/>
          <p:nvPr/>
        </p:nvSpPr>
        <p:spPr>
          <a:xfrm>
            <a:off x="7651242" y="36027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52" name="Shape 50"/>
          <p:cNvSpPr/>
          <p:nvPr/>
        </p:nvSpPr>
        <p:spPr>
          <a:xfrm>
            <a:off x="7920990" y="36027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53" name="Shape 51"/>
          <p:cNvSpPr/>
          <p:nvPr/>
        </p:nvSpPr>
        <p:spPr>
          <a:xfrm>
            <a:off x="8190738" y="36027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54" name="Shape 52"/>
          <p:cNvSpPr/>
          <p:nvPr/>
        </p:nvSpPr>
        <p:spPr>
          <a:xfrm>
            <a:off x="8460486" y="36027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55" name="Shape 53"/>
          <p:cNvSpPr/>
          <p:nvPr/>
        </p:nvSpPr>
        <p:spPr>
          <a:xfrm>
            <a:off x="8730234" y="36027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56" name="Shape 54"/>
          <p:cNvSpPr/>
          <p:nvPr/>
        </p:nvSpPr>
        <p:spPr>
          <a:xfrm>
            <a:off x="8999982" y="36027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57" name="Shape 55"/>
          <p:cNvSpPr/>
          <p:nvPr/>
        </p:nvSpPr>
        <p:spPr>
          <a:xfrm>
            <a:off x="9269730" y="36027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58" name="Shape 56"/>
          <p:cNvSpPr/>
          <p:nvPr/>
        </p:nvSpPr>
        <p:spPr>
          <a:xfrm>
            <a:off x="9539478" y="36027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59" name="Shape 57"/>
          <p:cNvSpPr/>
          <p:nvPr/>
        </p:nvSpPr>
        <p:spPr>
          <a:xfrm>
            <a:off x="9809226" y="36027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60" name="Shape 58"/>
          <p:cNvSpPr/>
          <p:nvPr/>
        </p:nvSpPr>
        <p:spPr>
          <a:xfrm>
            <a:off x="10078974" y="36027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61" name="Shape 59"/>
          <p:cNvSpPr/>
          <p:nvPr/>
        </p:nvSpPr>
        <p:spPr>
          <a:xfrm>
            <a:off x="10348722" y="36027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62" name="Shape 60"/>
          <p:cNvSpPr/>
          <p:nvPr/>
        </p:nvSpPr>
        <p:spPr>
          <a:xfrm>
            <a:off x="10618470" y="36027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63" name="Shape 61"/>
          <p:cNvSpPr/>
          <p:nvPr/>
        </p:nvSpPr>
        <p:spPr>
          <a:xfrm>
            <a:off x="10888218" y="36027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64" name="Shape 62"/>
          <p:cNvSpPr/>
          <p:nvPr/>
        </p:nvSpPr>
        <p:spPr>
          <a:xfrm>
            <a:off x="11157966" y="36027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65" name="Shape 63"/>
          <p:cNvSpPr/>
          <p:nvPr/>
        </p:nvSpPr>
        <p:spPr>
          <a:xfrm>
            <a:off x="11427714" y="36027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66" name="Shape 64"/>
          <p:cNvSpPr/>
          <p:nvPr/>
        </p:nvSpPr>
        <p:spPr>
          <a:xfrm>
            <a:off x="11697462" y="36027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67" name="Shape 65"/>
          <p:cNvSpPr/>
          <p:nvPr/>
        </p:nvSpPr>
        <p:spPr>
          <a:xfrm>
            <a:off x="6572250" y="39684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68" name="Shape 66"/>
          <p:cNvSpPr/>
          <p:nvPr/>
        </p:nvSpPr>
        <p:spPr>
          <a:xfrm>
            <a:off x="6841998" y="39684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69" name="Shape 67"/>
          <p:cNvSpPr/>
          <p:nvPr/>
        </p:nvSpPr>
        <p:spPr>
          <a:xfrm>
            <a:off x="7111746" y="39684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70" name="Shape 68"/>
          <p:cNvSpPr/>
          <p:nvPr/>
        </p:nvSpPr>
        <p:spPr>
          <a:xfrm>
            <a:off x="7381494" y="39684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71" name="Shape 69"/>
          <p:cNvSpPr/>
          <p:nvPr/>
        </p:nvSpPr>
        <p:spPr>
          <a:xfrm>
            <a:off x="7651242" y="39684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72" name="Shape 70"/>
          <p:cNvSpPr/>
          <p:nvPr/>
        </p:nvSpPr>
        <p:spPr>
          <a:xfrm>
            <a:off x="7920990" y="39684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73" name="Shape 71"/>
          <p:cNvSpPr/>
          <p:nvPr/>
        </p:nvSpPr>
        <p:spPr>
          <a:xfrm>
            <a:off x="8190738" y="39684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74" name="Shape 72"/>
          <p:cNvSpPr/>
          <p:nvPr/>
        </p:nvSpPr>
        <p:spPr>
          <a:xfrm>
            <a:off x="8460486" y="39684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75" name="Shape 73"/>
          <p:cNvSpPr/>
          <p:nvPr/>
        </p:nvSpPr>
        <p:spPr>
          <a:xfrm>
            <a:off x="8730234" y="39684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76" name="Shape 74"/>
          <p:cNvSpPr/>
          <p:nvPr/>
        </p:nvSpPr>
        <p:spPr>
          <a:xfrm>
            <a:off x="8999982" y="39684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77" name="Shape 75"/>
          <p:cNvSpPr/>
          <p:nvPr/>
        </p:nvSpPr>
        <p:spPr>
          <a:xfrm>
            <a:off x="9269730" y="39684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78" name="Shape 76"/>
          <p:cNvSpPr/>
          <p:nvPr/>
        </p:nvSpPr>
        <p:spPr>
          <a:xfrm>
            <a:off x="9539478" y="39684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79" name="Shape 77"/>
          <p:cNvSpPr/>
          <p:nvPr/>
        </p:nvSpPr>
        <p:spPr>
          <a:xfrm>
            <a:off x="9809226" y="39684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80" name="Shape 78"/>
          <p:cNvSpPr/>
          <p:nvPr/>
        </p:nvSpPr>
        <p:spPr>
          <a:xfrm>
            <a:off x="10078974" y="39684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81" name="Shape 79"/>
          <p:cNvSpPr/>
          <p:nvPr/>
        </p:nvSpPr>
        <p:spPr>
          <a:xfrm>
            <a:off x="10348722" y="39684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82" name="Shape 80"/>
          <p:cNvSpPr/>
          <p:nvPr/>
        </p:nvSpPr>
        <p:spPr>
          <a:xfrm>
            <a:off x="10618470" y="39684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83" name="Shape 81"/>
          <p:cNvSpPr/>
          <p:nvPr/>
        </p:nvSpPr>
        <p:spPr>
          <a:xfrm>
            <a:off x="10888218" y="39684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84" name="Shape 82"/>
          <p:cNvSpPr/>
          <p:nvPr/>
        </p:nvSpPr>
        <p:spPr>
          <a:xfrm>
            <a:off x="11157966" y="39684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85" name="Shape 83"/>
          <p:cNvSpPr/>
          <p:nvPr/>
        </p:nvSpPr>
        <p:spPr>
          <a:xfrm>
            <a:off x="11427714" y="39684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86" name="Shape 84"/>
          <p:cNvSpPr/>
          <p:nvPr/>
        </p:nvSpPr>
        <p:spPr>
          <a:xfrm>
            <a:off x="11697462" y="39684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87" name="Shape 85"/>
          <p:cNvSpPr/>
          <p:nvPr/>
        </p:nvSpPr>
        <p:spPr>
          <a:xfrm>
            <a:off x="6572250" y="43342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88" name="Shape 86"/>
          <p:cNvSpPr/>
          <p:nvPr/>
        </p:nvSpPr>
        <p:spPr>
          <a:xfrm>
            <a:off x="6841998" y="43342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89" name="Shape 87"/>
          <p:cNvSpPr/>
          <p:nvPr/>
        </p:nvSpPr>
        <p:spPr>
          <a:xfrm>
            <a:off x="7111746" y="43342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90" name="Shape 88"/>
          <p:cNvSpPr/>
          <p:nvPr/>
        </p:nvSpPr>
        <p:spPr>
          <a:xfrm>
            <a:off x="7381494" y="43342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91" name="Shape 89"/>
          <p:cNvSpPr/>
          <p:nvPr/>
        </p:nvSpPr>
        <p:spPr>
          <a:xfrm>
            <a:off x="7651242" y="43342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92" name="Shape 90"/>
          <p:cNvSpPr/>
          <p:nvPr/>
        </p:nvSpPr>
        <p:spPr>
          <a:xfrm>
            <a:off x="7920990" y="43342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93" name="Shape 91"/>
          <p:cNvSpPr/>
          <p:nvPr/>
        </p:nvSpPr>
        <p:spPr>
          <a:xfrm>
            <a:off x="8190738" y="4334256"/>
            <a:ext cx="201168" cy="201168"/>
          </a:xfrm>
          <a:prstGeom prst="ellipse">
            <a:avLst/>
          </a:prstGeom>
          <a:solidFill>
            <a:srgbClr val="FF2D4A"/>
          </a:solidFill>
          <a:ln/>
        </p:spPr>
      </p:sp>
      <p:sp>
        <p:nvSpPr>
          <p:cNvPr id="94" name="Shape 92"/>
          <p:cNvSpPr/>
          <p:nvPr/>
        </p:nvSpPr>
        <p:spPr>
          <a:xfrm>
            <a:off x="8460486" y="43342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95" name="Shape 93"/>
          <p:cNvSpPr/>
          <p:nvPr/>
        </p:nvSpPr>
        <p:spPr>
          <a:xfrm>
            <a:off x="8730234" y="43342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96" name="Shape 94"/>
          <p:cNvSpPr/>
          <p:nvPr/>
        </p:nvSpPr>
        <p:spPr>
          <a:xfrm>
            <a:off x="8999982" y="43342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97" name="Shape 95"/>
          <p:cNvSpPr/>
          <p:nvPr/>
        </p:nvSpPr>
        <p:spPr>
          <a:xfrm>
            <a:off x="9269730" y="43342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98" name="Shape 96"/>
          <p:cNvSpPr/>
          <p:nvPr/>
        </p:nvSpPr>
        <p:spPr>
          <a:xfrm>
            <a:off x="9539478" y="43342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99" name="Shape 97"/>
          <p:cNvSpPr/>
          <p:nvPr/>
        </p:nvSpPr>
        <p:spPr>
          <a:xfrm>
            <a:off x="9809226" y="43342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10078974" y="43342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10348722" y="43342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10618470" y="43342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10888218" y="43342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1157966" y="43342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11427714" y="43342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1697462" y="43342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572250" y="47000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841998" y="47000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111746" y="47000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381494" y="47000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651242" y="47000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920990" y="47000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8190738" y="47000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8460486" y="47000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8730234" y="47000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8999982" y="47000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9269730" y="47000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9539478" y="47000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809226" y="47000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10078974" y="47000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10348722" y="47000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10618470" y="47000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10888218" y="47000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11157966" y="47000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11427714" y="47000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11697462" y="470001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72250" y="50657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841998" y="50657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7111746" y="50657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381494" y="50657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7651242" y="50657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920990" y="50657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8190738" y="50657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8460486" y="50657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8730234" y="50657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8999982" y="50657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9269730" y="50657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539478" y="50657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9809226" y="50657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10078974" y="50657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10348722" y="50657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10618470" y="50657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10888218" y="50657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11157966" y="50657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11427714" y="50657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11697462" y="506577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572250" y="54315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841998" y="54315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7111746" y="54315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7381494" y="54315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7651242" y="54315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7920990" y="54315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8190738" y="54315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8460486" y="54315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8730234" y="54315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8999982" y="54315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9269730" y="54315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9539478" y="54315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9809226" y="54315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078974" y="54315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0348722" y="54315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0618470" y="54315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10888218" y="54315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11157966" y="54315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11427714" y="54315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11697462" y="543153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572250" y="57972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841998" y="57972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7111746" y="57972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7381494" y="57972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7651242" y="57972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920990" y="57972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8190738" y="57972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8460486" y="57972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8730234" y="57972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8999982" y="57972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9269730" y="57972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9539478" y="57972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9809226" y="57972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10078974" y="57972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10348722" y="57972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10618470" y="57972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10888218" y="57972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11157966" y="57972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11427714" y="57972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11697462" y="579729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572250" y="61630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841998" y="61630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111746" y="61630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381494" y="61630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651242" y="61630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920990" y="61630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8190738" y="61630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8460486" y="61630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8730234" y="61630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8999982" y="61630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9269730" y="61630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9539478" y="61630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9809226" y="61630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10078974" y="61630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10348722" y="61630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10618470" y="61630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10888218" y="61630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11157966" y="61630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11427714" y="61630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11697462" y="6163056"/>
            <a:ext cx="109728" cy="109728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207" name="Text 205"/>
          <p:cNvSpPr txBox="1"/>
          <p:nvPr/>
        </p:nvSpPr>
        <p:spPr>
          <a:xfrm>
            <a:off x="6492240" y="64922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patched &amp; verified   • compromised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</a:t>
            </a:r>
            <a:pPr indent="0" marL="0">
              <a:buNone/>
            </a:pPr>
            <a:r>
              <a:rPr lang="en-US" sz="1000" spc="3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  THE CLOSE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spc="-2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the devices
</a:t>
            </a:r>
            <a:pPr algn="ctr" indent="0" marL="0">
              <a:buNone/>
            </a:pPr>
            <a:r>
              <a:rPr lang="en-US" sz="6000" b="1" i="1" spc="-200" kern="0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themselves.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1089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BABA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hole. Prove the kill. Close it. Show the receipt.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2697480" cy="2286000"/>
          </a:xfrm>
          <a:prstGeom prst="rect">
            <a:avLst/>
          </a:prstGeom>
          <a:solidFill>
            <a:srgbClr val="101013"/>
          </a:solidFill>
          <a:ln w="12700">
            <a:solidFill>
              <a:srgbClr val="2B2B2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1148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2628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Israel
</a:t>
            </a:r>
            <a:pPr indent="0" marL="0">
              <a:buNone/>
            </a:pPr>
            <a:r>
              <a:rPr lang="en-US" sz="2400" i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Ogwu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5440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 · ORCHESTRATION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57150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AB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UMD · Anthropic Campus Ambassador · Claude Builder Club.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37560" y="3931920"/>
            <a:ext cx="2697480" cy="2286000"/>
          </a:xfrm>
          <a:prstGeom prst="rect">
            <a:avLst/>
          </a:prstGeom>
          <a:solidFill>
            <a:srgbClr val="101013"/>
          </a:solidFill>
          <a:ln w="12700">
            <a:solidFill>
              <a:srgbClr val="2B2B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66160" y="41148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452628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Christian
</a:t>
            </a:r>
            <a:pPr indent="0" marL="0">
              <a:buNone/>
            </a:pPr>
            <a:r>
              <a:rPr lang="en-US" sz="2400" i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Ibarbia Ruiz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5440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SECURITY · INTEGRATION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57150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AB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· ex-Google Gmail · agentic full-stack.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0" y="3931920"/>
            <a:ext cx="2697480" cy="2286000"/>
          </a:xfrm>
          <a:prstGeom prst="rect">
            <a:avLst/>
          </a:prstGeom>
          <a:solidFill>
            <a:srgbClr val="101013"/>
          </a:solidFill>
          <a:ln w="12700">
            <a:solidFill>
              <a:srgbClr val="2B2B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55080" y="41148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452628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Saketh
</a:t>
            </a:r>
            <a:pPr indent="0" marL="0">
              <a:buNone/>
            </a:pPr>
            <a:r>
              <a:rPr lang="en-US" sz="2400" i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Poori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5440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HARDWARE · SIMULATION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355080" y="57150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AB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hackathons · 8 awards · CV + hardware.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915400" y="3931920"/>
            <a:ext cx="2697480" cy="2286000"/>
          </a:xfrm>
          <a:prstGeom prst="rect">
            <a:avLst/>
          </a:prstGeom>
          <a:solidFill>
            <a:srgbClr val="101013"/>
          </a:solidFill>
          <a:ln w="12700">
            <a:solidFill>
              <a:srgbClr val="2B2B2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0" y="41148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0" y="452628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Sanjavan
</a:t>
            </a:r>
            <a:pPr indent="0" marL="0">
              <a:buNone/>
            </a:pPr>
            <a:r>
              <a:rPr lang="en-US" sz="2400" i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Ghodasara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0" y="5440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REALTIME · FRONTEND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0" y="57150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AB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Stevens MS ML · 8+ hackathon wins.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PreVent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PreVent — autonomous medical-device security</dc:title>
  <dc:subject>Cal Hacks 13.0 · Oct 2026</dc:subject>
  <dc:creator>The PreVent Team</dc:creator>
  <cp:lastModifiedBy>The PreVent Team</cp:lastModifiedBy>
  <cp:revision>1</cp:revision>
  <dcterms:created xsi:type="dcterms:W3CDTF">2026-10-24T19:58:44Z</dcterms:created>
  <dcterms:modified xsi:type="dcterms:W3CDTF">2026-10-24T19:58:44Z</dcterms:modified>
</cp:coreProperties>
</file>