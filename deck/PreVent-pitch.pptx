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Hero. Three real clippings. MIT + WIRED on same Düsseldorf 2020 incident. PBS covers Ascension 2024 — same attack class four years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Reported vs reality. CWE-306 — unsigned command accepted. The device obeys and lies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Scale: 460 attacks in 2025 (FBI IC3), ~53% of hospital devices run known-vulnerable firmware.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stages. Human gate highlighted. One shared truth across hardware + simulator +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screenshot + four live-reasoning behaviors. The model shows its work and rejects its own first patch.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Proof: same bytes, re-sent after patch. 200 → 401. Hard-asserted. No LLM judging.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FDA §524B already requires a repeatable find-and-fix process. Every patch leaves this receipt 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vision: 1 of 3,412. One red bed (today) in a sea of healed green devices (ward.)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+ team. The difference between a patient and a statistic was one button that stopped working — and nobody looking at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2B2B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PREVENT · CAL HACKS 13.0 · OCT 2026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</a:t>
            </a:r>
            <a:pPr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 EXHIBIT · THE ATTACK CLASS IS REAL</a:t>
            </a:r>
            <a:endParaRPr lang="en-US" sz="1000" dirty="0"/>
          </a:p>
        </p:txBody>
      </p:sp>
      <p:pic>
        <p:nvPicPr>
          <p:cNvPr id="3" name="Image 0" descr="/Users/sanjavan7/Documents/Startup Projects /calhacks/deck/assets/paper-mit-tr-patient-d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80000">
            <a:off x="548640" y="914400"/>
            <a:ext cx="3291840" cy="4261104"/>
          </a:xfrm>
          <a:prstGeom prst="rect">
            <a:avLst/>
          </a:prstGeom>
        </p:spPr>
      </p:pic>
      <p:pic>
        <p:nvPicPr>
          <p:cNvPr id="4" name="Image 1" descr="/Users/sanjavan7/Documents/Startup Projects /calhacks/deck/assets/paper-wired-patient-d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685800"/>
            <a:ext cx="3840480" cy="4974336"/>
          </a:xfrm>
          <a:prstGeom prst="rect">
            <a:avLst/>
          </a:prstGeom>
        </p:spPr>
      </p:pic>
      <p:pic>
        <p:nvPicPr>
          <p:cNvPr id="5" name="Image 2" descr="/Users/sanjavan7/Documents/Startup Projects /calhacks/deck/assets/paper-pbs-ascens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8348472" y="914400"/>
            <a:ext cx="3291840" cy="426110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 Technology Review</a:t>
            </a:r>
            <a:endParaRPr lang="en-US" sz="16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57424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PATRICK HOWELL O'NEILL  ·  SEP 18 · 2020</a:t>
            </a:r>
            <a:endParaRPr lang="en-US" sz="85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59253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BAB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documented ransomware death</a:t>
            </a:r>
            <a:endParaRPr lang="en-US" sz="850" dirty="0"/>
          </a:p>
        </p:txBody>
      </p:sp>
      <p:sp>
        <p:nvSpPr>
          <p:cNvPr id="9" name="Text 4"/>
          <p:cNvSpPr txBox="1"/>
          <p:nvPr/>
        </p:nvSpPr>
        <p:spPr>
          <a:xfrm>
            <a:off x="4178808" y="5760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WIRED</a:t>
            </a:r>
            <a:endParaRPr lang="en-US" sz="2000" dirty="0"/>
          </a:p>
        </p:txBody>
      </p:sp>
      <p:sp>
        <p:nvSpPr>
          <p:cNvPr id="10" name="Text 5"/>
          <p:cNvSpPr txBox="1"/>
          <p:nvPr/>
        </p:nvSpPr>
        <p:spPr>
          <a:xfrm>
            <a:off x="4178808" y="6108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 GOODIN · ARS TECHNICA · SEP 19 · 2020</a:t>
            </a:r>
            <a:endParaRPr lang="en-US" sz="850" dirty="0"/>
          </a:p>
        </p:txBody>
      </p:sp>
      <p:sp>
        <p:nvSpPr>
          <p:cNvPr id="11" name="Text 6"/>
          <p:cNvSpPr txBox="1"/>
          <p:nvPr/>
        </p:nvSpPr>
        <p:spPr>
          <a:xfrm>
            <a:off x="8348472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PBS Wisconsin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8348472" y="57424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ASSOCIATED PRESS  ·  MAY 9 · 2024</a:t>
            </a:r>
            <a:endParaRPr lang="en-US" sz="850" dirty="0"/>
          </a:p>
        </p:txBody>
      </p:sp>
      <p:sp>
        <p:nvSpPr>
          <p:cNvPr id="13" name="Text 8"/>
          <p:cNvSpPr txBox="1"/>
          <p:nvPr/>
        </p:nvSpPr>
        <p:spPr>
          <a:xfrm>
            <a:off x="8348472" y="59253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BAB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years later  ·  same attack class</a:t>
            </a:r>
            <a:endParaRPr lang="en-US" sz="85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619963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AB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Different outlets. Four years apart.  </a:t>
            </a:r>
            <a:pPr algn="ctr" indent="0" marL="0">
              <a:buNone/>
            </a:pPr>
            <a:r>
              <a:rPr lang="en-US" sz="1000" spc="2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known vulnerability class · no tool to find, fix, and verify it at scale.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</a:t>
            </a:r>
            <a:pPr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 THE ATTACK IS SILENT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device keeps reporting </a:t>
            </a:r>
            <a:pPr indent="0" marL="0">
              <a:buNone/>
            </a:pPr>
            <a:r>
              <a:rPr lang="en-US" sz="3600" i="1" spc="-100" kern="0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"normal."</a:t>
            </a:r>
            <a:pPr indent="0" marL="0">
              <a:buNone/>
            </a:pPr>
            <a:endParaRPr lang="en-US" sz="3600" dirty="0"/>
          </a:p>
          <a:p>
            <a:pPr indent="0" marL="0">
              <a:buNone/>
            </a:pPr>
            <a:r>
              <a:rPr lang="en-US" sz="36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patient keeps crashing.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5486400" cy="2743200"/>
          </a:xfrm>
          <a:prstGeom prst="rect">
            <a:avLst/>
          </a:prstGeom>
          <a:solidFill>
            <a:srgbClr val="101013"/>
          </a:solidFill>
          <a:ln w="12700">
            <a:solidFill>
              <a:srgbClr val="2B2B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971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SCREEN DISPLAYS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947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22E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SpO₂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794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22E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reads. Alarm silent. Monitor insists the patient is fine.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5486400" cy="2743200"/>
          </a:xfrm>
          <a:prstGeom prst="rect">
            <a:avLst/>
          </a:prstGeom>
          <a:solidFill>
            <a:srgbClr val="1F0609"/>
          </a:solidFill>
          <a:ln w="12700">
            <a:solidFill>
              <a:srgbClr val="FF2D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2971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PATIENT ACTUALLY HAS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7947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72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SpO₂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3794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7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stopped. Respiration flat. The alarm was suppressed by the attacker.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doctor sees the difference.    →    </a:t>
            </a:r>
            <a:pPr algn="ctr" indent="0" marL="0">
              <a:buNone/>
            </a:pPr>
            <a:r>
              <a:rPr lang="en-US" sz="1800" b="1" i="1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why these attacks kill.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</a:t>
            </a:r>
            <a:pPr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 THE MARKET WE'RE DEFENDING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Ransomware doesn't break the device —
</a:t>
            </a:r>
            <a:pPr indent="0" marL="0">
              <a:buNone/>
            </a:pPr>
            <a:r>
              <a:rPr lang="en-US" sz="36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</a:t>
            </a:r>
            <a:pPr indent="0" marL="0">
              <a:buNone/>
            </a:pPr>
            <a:r>
              <a:rPr lang="en-US" sz="3600" b="1" i="1" spc="-100" kern="0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pivots through it.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3017520"/>
            <a:ext cx="5394960" cy="0"/>
          </a:xfrm>
          <a:prstGeom prst="line">
            <a:avLst/>
          </a:prstGeom>
          <a:noFill/>
          <a:ln w="9525">
            <a:solidFill>
              <a:srgbClr val="2B2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36792" y="3017520"/>
            <a:ext cx="5394960" cy="0"/>
          </a:xfrm>
          <a:prstGeom prst="line">
            <a:avLst/>
          </a:prstGeom>
          <a:noFill/>
          <a:ln w="9525">
            <a:solidFill>
              <a:srgbClr val="2B2B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10896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b="1" spc="-500" kern="0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460</a:t>
            </a:r>
            <a:endParaRPr lang="en-US" sz="1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1663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healthcare cyberattacks in </a:t>
            </a:r>
            <a:pPr indent="0" marL="0">
              <a:buNone/>
            </a:pPr>
            <a:r>
              <a:rPr lang="en-US" sz="1800" b="1" i="1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2025. </a:t>
            </a:r>
            <a:pPr indent="0" marL="0">
              <a:buNone/>
            </a:pPr>
            <a:r>
              <a:rPr lang="en-US" sz="1800" i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from 249 in 2023.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943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FBI IC3  ·  2025 ANNUAL REPORT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310896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0" b="1" spc="-5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~53%</a:t>
            </a:r>
            <a:endParaRPr lang="en-US" sz="13500" dirty="0"/>
          </a:p>
        </p:txBody>
      </p:sp>
      <p:sp>
        <p:nvSpPr>
          <p:cNvPr id="10" name="Text 8"/>
          <p:cNvSpPr txBox="1"/>
          <p:nvPr/>
        </p:nvSpPr>
        <p:spPr>
          <a:xfrm>
            <a:off x="6336792" y="51663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connected medical devices carry a </a:t>
            </a:r>
            <a:pPr indent="0" marL="0">
              <a:buNone/>
            </a:pPr>
            <a:r>
              <a:rPr lang="en-US" sz="1800" b="1" i="1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</a:t>
            </a:r>
            <a:pPr indent="0" marL="0">
              <a:buNone/>
            </a:pPr>
            <a:r>
              <a:rPr lang="en-US" sz="1800" i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critical vulnerability. Nobody writes the patch.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5943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CLAROTY  ·  MEDIGATE  ·  2024 FLEET SURVEYS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</a:t>
            </a:r>
            <a:pPr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 WHAT WE BUILT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74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loop.
</a:t>
            </a:r>
            <a:pPr indent="0" marL="0">
              <a:buNone/>
            </a:pPr>
            <a:r>
              <a:rPr lang="en-US" sz="36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 </a:t>
            </a:r>
            <a:pPr indent="0" marL="0">
              <a:buNone/>
            </a:pPr>
            <a:r>
              <a:rPr lang="en-US" sz="3600" b="1" i="1" spc="-100" kern="0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642616"/>
            <a:ext cx="11274552" cy="0"/>
          </a:xfrm>
          <a:prstGeom prst="line">
            <a:avLst/>
          </a:prstGeom>
          <a:noFill/>
          <a:ln w="6350">
            <a:solidFill>
              <a:srgbClr val="2B2B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7249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7066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 </a:t>
            </a:r>
            <a:pPr indent="0" marL="0">
              <a:buNone/>
            </a:pPr>
            <a:r>
              <a:rPr lang="en-US" sz="13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CVE-2019-6538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2752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the real CVE from NVD. Not fabricated.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241280" y="27523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081528"/>
            <a:ext cx="11274552" cy="0"/>
          </a:xfrm>
          <a:prstGeom prst="line">
            <a:avLst/>
          </a:prstGeom>
          <a:noFill/>
          <a:ln w="6350">
            <a:solidFill>
              <a:srgbClr val="2B2B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1638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1455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 </a:t>
            </a:r>
            <a:pPr indent="0" marL="0">
              <a:buNone/>
            </a:pPr>
            <a:r>
              <a:rPr lang="en-US" sz="13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app.py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1912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+ Bandit run deterministic rules. Claude triages the real finding.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0" y="31912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SEMGREP · BANDIT · CLAUDE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11274552" cy="0"/>
          </a:xfrm>
          <a:prstGeom prst="line">
            <a:avLst/>
          </a:prstGeom>
          <a:noFill/>
          <a:ln w="6350">
            <a:solidFill>
              <a:srgbClr val="2B2B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6027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5844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Exploit  </a:t>
            </a:r>
            <a:pPr indent="0" marL="0">
              <a:buNone/>
            </a:pPr>
            <a:r>
              <a:rPr lang="en-US" sz="13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/device/command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630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 writes the PoC payload. The device obeys.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0" y="3630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 PAYLOAD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959352"/>
            <a:ext cx="11274552" cy="0"/>
          </a:xfrm>
          <a:prstGeom prst="line">
            <a:avLst/>
          </a:prstGeom>
          <a:noFill/>
          <a:ln w="6350">
            <a:solidFill>
              <a:srgbClr val="2B2B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40416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  </a:t>
            </a:r>
            <a:pPr indent="0" marL="0">
              <a:buNone/>
            </a:pPr>
            <a:r>
              <a:rPr lang="en-US" sz="13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 X-Device-Token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Droid writes a real git diff. 41/41 unit tests green.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FACTORY DROID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11274552" cy="420624"/>
          </a:xfrm>
          <a:prstGeom prst="rect">
            <a:avLst/>
          </a:prstGeom>
          <a:solidFill>
            <a:srgbClr val="1F0609"/>
          </a:solidFill>
          <a:ln w="9525">
            <a:solidFill>
              <a:srgbClr val="FF2D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44805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gate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645920" y="4462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 </a:t>
            </a:r>
            <a:pPr indent="0" marL="0">
              <a:buNone/>
            </a:pPr>
            <a:r>
              <a:rPr lang="en-US" sz="13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&amp; deploy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507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sign-off. Tool-scoped, process boundary, identity-check.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0" y="4507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837176"/>
            <a:ext cx="11274552" cy="0"/>
          </a:xfrm>
          <a:prstGeom prst="line">
            <a:avLst/>
          </a:prstGeom>
          <a:noFill/>
          <a:ln w="6350">
            <a:solidFill>
              <a:srgbClr val="2B2B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49194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645920" y="49011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 </a:t>
            </a:r>
            <a:pPr indent="0" marL="0">
              <a:buNone/>
            </a:pPr>
            <a:r>
              <a:rPr lang="en-US" sz="13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re-run the same bytes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4946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the exact exploit. Hard-asserted status code — no LLM in the loop.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0" y="49469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BYTE-FOR-BYTE REPLAY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5276088"/>
            <a:ext cx="11274552" cy="0"/>
          </a:xfrm>
          <a:prstGeom prst="line">
            <a:avLst/>
          </a:prstGeom>
          <a:noFill/>
          <a:ln w="6350">
            <a:solidFill>
              <a:srgbClr val="2B2B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53583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645920" y="53400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Restore  </a:t>
            </a:r>
            <a:pPr indent="0" marL="0">
              <a:buNone/>
            </a:pPr>
            <a:r>
              <a:rPr lang="en-US" sz="13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baseline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53858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back online. Receipt signed. Audit queue notified.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0241280" y="53858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SIGNED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hole.  </a:t>
            </a:r>
            <a:pPr indent="0" marL="0">
              <a:buNone/>
            </a:pPr>
            <a:r>
              <a:rPr lang="en-US" sz="1600" b="1" i="1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kill.  </a:t>
            </a:r>
            <a:pPr indent="0" marL="0">
              <a:buNone/>
            </a:pPr>
            <a:r>
              <a:rPr lang="en-US" sz="16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it.  Show the receipt.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</a:t>
            </a:r>
            <a:pPr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 CLAUDE, OUT LOUD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74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shows its work —
</a:t>
            </a:r>
            <a:pPr indent="0" marL="0">
              <a:buNone/>
            </a:pPr>
            <a:r>
              <a:rPr lang="en-US" sz="34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</a:t>
            </a:r>
            <a:pPr indent="0" marL="0">
              <a:buNone/>
            </a:pPr>
            <a:r>
              <a:rPr lang="en-US" sz="3400" b="1" i="1" spc="-100" kern="0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catches itself.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2468880"/>
            <a:ext cx="3182112" cy="3749040"/>
          </a:xfrm>
          <a:prstGeom prst="rect">
            <a:avLst/>
          </a:prstGeom>
          <a:solidFill>
            <a:srgbClr val="101013"/>
          </a:solidFill>
          <a:ln w="12700">
            <a:solidFill>
              <a:srgbClr val="2B2B2E"/>
            </a:solidFill>
            <a:prstDash val="solid"/>
          </a:ln>
        </p:spPr>
      </p:sp>
      <p:pic>
        <p:nvPicPr>
          <p:cNvPr id="5" name="Image 0" descr="/Users/sanjavan7/Documents/Startup Projects /calhacks/deck/assets/dashboard_p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14600"/>
            <a:ext cx="3090672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19456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· PREVENT DASHBOARD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931920" y="2514600"/>
            <a:ext cx="7772400" cy="0"/>
          </a:xfrm>
          <a:prstGeom prst="line">
            <a:avLst/>
          </a:prstGeom>
          <a:noFill/>
          <a:ln w="6350">
            <a:solidFill>
              <a:srgbClr val="2B2B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319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267919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 REASONING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29260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agent reads app.py line-by-line, visibly cross-checks the auth decorator.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931920" y="3429000"/>
            <a:ext cx="7772400" cy="0"/>
          </a:xfrm>
          <a:prstGeom prst="line">
            <a:avLst/>
          </a:prstGeom>
          <a:noFill/>
          <a:ln w="6350">
            <a:solidFill>
              <a:srgbClr val="2B2B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319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359359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VISIBLE CONFIDENCE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38404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on the real finding. 58% after it rejects its own first patch.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31920" y="4343400"/>
            <a:ext cx="7772400" cy="0"/>
          </a:xfrm>
          <a:prstGeom prst="line">
            <a:avLst/>
          </a:prstGeom>
          <a:noFill/>
          <a:ln w="6350">
            <a:solidFill>
              <a:srgbClr val="2B2B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319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450799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SELF-CORRECTION EVENT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47548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"REJECTED my own patch — v1 broke the emergency override path."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931920" y="5257800"/>
            <a:ext cx="7772400" cy="0"/>
          </a:xfrm>
          <a:prstGeom prst="line">
            <a:avLst/>
          </a:prstGeom>
          <a:noFill/>
          <a:ln w="6350">
            <a:solidFill>
              <a:srgbClr val="2B2B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3192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4480560" y="542239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AUTONOMOUS PATCH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480560" y="56692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Droid produces a real git diff. 41 / 41 unit tests green.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</a:t>
            </a:r>
            <a:pPr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 PROOF, NOT PROSE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74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re-run the exact exploit.
</a:t>
            </a:r>
            <a:pPr indent="0" marL="0">
              <a:buNone/>
            </a:pPr>
            <a:r>
              <a:rPr lang="en-US" sz="34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must now </a:t>
            </a:r>
            <a:pPr indent="0" marL="0">
              <a:buNone/>
            </a:pPr>
            <a:r>
              <a:rPr lang="en-US" sz="3400" b="1" i="1" spc="-100" kern="0" dirty="0">
                <a:solidFill>
                  <a:srgbClr val="22E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PATCH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PATCH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632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110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35204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dirty="0">
                <a:solidFill>
                  <a:srgbClr val="7777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30632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22E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401</a:t>
            </a:r>
            <a:endParaRPr lang="en-US" sz="11000" dirty="0"/>
          </a:p>
        </p:txBody>
      </p:sp>
      <p:sp>
        <p:nvSpPr>
          <p:cNvPr id="9" name="Shape 7"/>
          <p:cNvSpPr/>
          <p:nvPr/>
        </p:nvSpPr>
        <p:spPr>
          <a:xfrm>
            <a:off x="8686800" y="2743200"/>
            <a:ext cx="3017520" cy="3108960"/>
          </a:xfrm>
          <a:prstGeom prst="rect">
            <a:avLst/>
          </a:prstGeom>
          <a:solidFill>
            <a:srgbClr val="101013"/>
          </a:solidFill>
          <a:ln w="12700">
            <a:solidFill>
              <a:srgbClr val="2B2B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 · BYTE-FOR-BYTE REPLAY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3273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0" y="3273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/device/command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0" y="3584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200 OK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0" y="3895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fan stops · alarm silent · patient crashing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4206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/device/command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0" y="4517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E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401 Unauthorized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4828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fan running · alarm armed · patient breathing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51389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Judged by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0" y="5138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hard-asserted status code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0" y="5449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LLM in the loop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035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or fail. </a:t>
            </a:r>
            <a:pPr indent="0" marL="0">
              <a:buNone/>
            </a:pPr>
            <a:r>
              <a:rPr lang="en-US" sz="1600" b="1" i="1" dirty="0">
                <a:solidFill>
                  <a:srgbClr val="22E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middle ground.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</a:t>
            </a:r>
            <a:pPr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 COMPLIANCE PAYS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74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receipt the FDA
</a:t>
            </a:r>
            <a:pPr indent="0" marL="0">
              <a:buNone/>
            </a:pPr>
            <a:r>
              <a:rPr lang="en-US" sz="3800" b="1" i="1" spc="-100" kern="0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asks for.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103120" y="2697480"/>
            <a:ext cx="7982712" cy="3429000"/>
          </a:xfrm>
          <a:prstGeom prst="rect">
            <a:avLst/>
          </a:prstGeom>
          <a:solidFill>
            <a:srgbClr val="101013"/>
          </a:solidFill>
          <a:ln w="12700">
            <a:solidFill>
              <a:srgbClr val="2B2B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468880" y="2926080"/>
            <a:ext cx="7251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FDA §524B  ·  AUDITABLE RECEIPT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3246120"/>
            <a:ext cx="7251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VENT-SIM / Lab unit </a:t>
            </a:r>
            <a:pPr indent="0" marL="0">
              <a:buNone/>
            </a:pPr>
            <a:r>
              <a:rPr lang="en-US" sz="2200" b="1" i="1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#0001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388620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CWE-306 · CVE-2019-6538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416052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SemGrep 1.182.1 · Bandit 1.9.4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4434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author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443484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Factory Droid · scoped CLI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4709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 by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470916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human@ops · identity-signed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4983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498348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exploit → 401 after fix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5257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SBOM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525780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attached · 73 packages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5532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Reproduce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553212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· diff + exploit payload sealed to this record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E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Sealed and queued to clinical engineering  ·  </a:t>
            </a:r>
            <a:pPr algn="ctr" indent="0" marL="0">
              <a:buNone/>
            </a:pPr>
            <a:r>
              <a:rPr lang="en-US" sz="100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2026-10-24 11:17 PDT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</a:t>
            </a:r>
            <a:pPr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 ONE DEVICE TODAY. THOUSANDS TOMORROW.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74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 one room.
</a:t>
            </a:r>
            <a:pPr indent="0" marL="0">
              <a:buNone/>
            </a:pPr>
            <a:r>
              <a:rPr lang="en-US" sz="36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pPr indent="0" marL="0">
              <a:buNone/>
            </a:pPr>
            <a:r>
              <a:rPr lang="en-US" sz="3600" b="1" i="1" spc="-100" kern="0" dirty="0">
                <a:solidFill>
                  <a:srgbClr val="22E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heal-wave</a:t>
            </a:r>
            <a:pPr indent="0" marL="0">
              <a:buNone/>
            </a:pPr>
            <a:r>
              <a:rPr lang="en-US" sz="36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rolls across the ward.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97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of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9184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b="1" spc="-500" kern="0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3,412</a:t>
            </a:r>
            <a:endParaRPr lang="en-US" sz="1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A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in a single hospital system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715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77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a parallel find → fix → verify job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87668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9" name="Shape 7"/>
          <p:cNvSpPr/>
          <p:nvPr/>
        </p:nvSpPr>
        <p:spPr>
          <a:xfrm>
            <a:off x="6752844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0" name="Shape 8"/>
          <p:cNvSpPr/>
          <p:nvPr/>
        </p:nvSpPr>
        <p:spPr>
          <a:xfrm>
            <a:off x="7018020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1" name="Shape 9"/>
          <p:cNvSpPr/>
          <p:nvPr/>
        </p:nvSpPr>
        <p:spPr>
          <a:xfrm>
            <a:off x="7283196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2" name="Shape 10"/>
          <p:cNvSpPr/>
          <p:nvPr/>
        </p:nvSpPr>
        <p:spPr>
          <a:xfrm>
            <a:off x="7548372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3" name="Shape 11"/>
          <p:cNvSpPr/>
          <p:nvPr/>
        </p:nvSpPr>
        <p:spPr>
          <a:xfrm>
            <a:off x="7813548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4" name="Shape 12"/>
          <p:cNvSpPr/>
          <p:nvPr/>
        </p:nvSpPr>
        <p:spPr>
          <a:xfrm>
            <a:off x="8078724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5" name="Shape 13"/>
          <p:cNvSpPr/>
          <p:nvPr/>
        </p:nvSpPr>
        <p:spPr>
          <a:xfrm>
            <a:off x="8343900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6" name="Shape 14"/>
          <p:cNvSpPr/>
          <p:nvPr/>
        </p:nvSpPr>
        <p:spPr>
          <a:xfrm>
            <a:off x="8609076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7" name="Shape 15"/>
          <p:cNvSpPr/>
          <p:nvPr/>
        </p:nvSpPr>
        <p:spPr>
          <a:xfrm>
            <a:off x="8874252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8" name="Shape 16"/>
          <p:cNvSpPr/>
          <p:nvPr/>
        </p:nvSpPr>
        <p:spPr>
          <a:xfrm>
            <a:off x="9139428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9" name="Shape 17"/>
          <p:cNvSpPr/>
          <p:nvPr/>
        </p:nvSpPr>
        <p:spPr>
          <a:xfrm>
            <a:off x="9404604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0" name="Shape 18"/>
          <p:cNvSpPr/>
          <p:nvPr/>
        </p:nvSpPr>
        <p:spPr>
          <a:xfrm>
            <a:off x="9669780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1" name="Shape 19"/>
          <p:cNvSpPr/>
          <p:nvPr/>
        </p:nvSpPr>
        <p:spPr>
          <a:xfrm>
            <a:off x="9934956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00132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65308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730484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95660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60836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26012" y="282092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87668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9" name="Shape 27"/>
          <p:cNvSpPr/>
          <p:nvPr/>
        </p:nvSpPr>
        <p:spPr>
          <a:xfrm>
            <a:off x="6752844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30" name="Shape 28"/>
          <p:cNvSpPr/>
          <p:nvPr/>
        </p:nvSpPr>
        <p:spPr>
          <a:xfrm>
            <a:off x="7018020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31" name="Shape 29"/>
          <p:cNvSpPr/>
          <p:nvPr/>
        </p:nvSpPr>
        <p:spPr>
          <a:xfrm>
            <a:off x="7283196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32" name="Shape 30"/>
          <p:cNvSpPr/>
          <p:nvPr/>
        </p:nvSpPr>
        <p:spPr>
          <a:xfrm>
            <a:off x="7548372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33" name="Shape 31"/>
          <p:cNvSpPr/>
          <p:nvPr/>
        </p:nvSpPr>
        <p:spPr>
          <a:xfrm>
            <a:off x="7813548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34" name="Shape 32"/>
          <p:cNvSpPr/>
          <p:nvPr/>
        </p:nvSpPr>
        <p:spPr>
          <a:xfrm>
            <a:off x="8078724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35" name="Shape 33"/>
          <p:cNvSpPr/>
          <p:nvPr/>
        </p:nvSpPr>
        <p:spPr>
          <a:xfrm>
            <a:off x="8343900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36" name="Shape 34"/>
          <p:cNvSpPr/>
          <p:nvPr/>
        </p:nvSpPr>
        <p:spPr>
          <a:xfrm>
            <a:off x="8609076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37" name="Shape 35"/>
          <p:cNvSpPr/>
          <p:nvPr/>
        </p:nvSpPr>
        <p:spPr>
          <a:xfrm>
            <a:off x="8874252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38" name="Shape 36"/>
          <p:cNvSpPr/>
          <p:nvPr/>
        </p:nvSpPr>
        <p:spPr>
          <a:xfrm>
            <a:off x="9139428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39" name="Shape 37"/>
          <p:cNvSpPr/>
          <p:nvPr/>
        </p:nvSpPr>
        <p:spPr>
          <a:xfrm>
            <a:off x="9404604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40" name="Shape 38"/>
          <p:cNvSpPr/>
          <p:nvPr/>
        </p:nvSpPr>
        <p:spPr>
          <a:xfrm>
            <a:off x="9669780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41" name="Shape 39"/>
          <p:cNvSpPr/>
          <p:nvPr/>
        </p:nvSpPr>
        <p:spPr>
          <a:xfrm>
            <a:off x="9934956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42" name="Shape 40"/>
          <p:cNvSpPr/>
          <p:nvPr/>
        </p:nvSpPr>
        <p:spPr>
          <a:xfrm>
            <a:off x="10200132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43" name="Shape 41"/>
          <p:cNvSpPr/>
          <p:nvPr/>
        </p:nvSpPr>
        <p:spPr>
          <a:xfrm>
            <a:off x="10465308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44" name="Shape 42"/>
          <p:cNvSpPr/>
          <p:nvPr/>
        </p:nvSpPr>
        <p:spPr>
          <a:xfrm>
            <a:off x="10730484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45" name="Shape 43"/>
          <p:cNvSpPr/>
          <p:nvPr/>
        </p:nvSpPr>
        <p:spPr>
          <a:xfrm>
            <a:off x="10995660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46" name="Shape 44"/>
          <p:cNvSpPr/>
          <p:nvPr/>
        </p:nvSpPr>
        <p:spPr>
          <a:xfrm>
            <a:off x="11260836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47" name="Shape 45"/>
          <p:cNvSpPr/>
          <p:nvPr/>
        </p:nvSpPr>
        <p:spPr>
          <a:xfrm>
            <a:off x="11526012" y="315925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48" name="Shape 46"/>
          <p:cNvSpPr/>
          <p:nvPr/>
        </p:nvSpPr>
        <p:spPr>
          <a:xfrm>
            <a:off x="6487668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49" name="Shape 47"/>
          <p:cNvSpPr/>
          <p:nvPr/>
        </p:nvSpPr>
        <p:spPr>
          <a:xfrm>
            <a:off x="6752844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50" name="Shape 48"/>
          <p:cNvSpPr/>
          <p:nvPr/>
        </p:nvSpPr>
        <p:spPr>
          <a:xfrm>
            <a:off x="7018020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51" name="Shape 49"/>
          <p:cNvSpPr/>
          <p:nvPr/>
        </p:nvSpPr>
        <p:spPr>
          <a:xfrm>
            <a:off x="7283196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52" name="Shape 50"/>
          <p:cNvSpPr/>
          <p:nvPr/>
        </p:nvSpPr>
        <p:spPr>
          <a:xfrm>
            <a:off x="7548372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53" name="Shape 51"/>
          <p:cNvSpPr/>
          <p:nvPr/>
        </p:nvSpPr>
        <p:spPr>
          <a:xfrm>
            <a:off x="7813548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54" name="Shape 52"/>
          <p:cNvSpPr/>
          <p:nvPr/>
        </p:nvSpPr>
        <p:spPr>
          <a:xfrm>
            <a:off x="8078724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55" name="Shape 53"/>
          <p:cNvSpPr/>
          <p:nvPr/>
        </p:nvSpPr>
        <p:spPr>
          <a:xfrm>
            <a:off x="8343900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56" name="Shape 54"/>
          <p:cNvSpPr/>
          <p:nvPr/>
        </p:nvSpPr>
        <p:spPr>
          <a:xfrm>
            <a:off x="8609076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57" name="Shape 55"/>
          <p:cNvSpPr/>
          <p:nvPr/>
        </p:nvSpPr>
        <p:spPr>
          <a:xfrm>
            <a:off x="8874252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58" name="Shape 56"/>
          <p:cNvSpPr/>
          <p:nvPr/>
        </p:nvSpPr>
        <p:spPr>
          <a:xfrm>
            <a:off x="9139428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59" name="Shape 57"/>
          <p:cNvSpPr/>
          <p:nvPr/>
        </p:nvSpPr>
        <p:spPr>
          <a:xfrm>
            <a:off x="9404604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60" name="Shape 58"/>
          <p:cNvSpPr/>
          <p:nvPr/>
        </p:nvSpPr>
        <p:spPr>
          <a:xfrm>
            <a:off x="9669780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61" name="Shape 59"/>
          <p:cNvSpPr/>
          <p:nvPr/>
        </p:nvSpPr>
        <p:spPr>
          <a:xfrm>
            <a:off x="9934956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62" name="Shape 60"/>
          <p:cNvSpPr/>
          <p:nvPr/>
        </p:nvSpPr>
        <p:spPr>
          <a:xfrm>
            <a:off x="10200132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63" name="Shape 61"/>
          <p:cNvSpPr/>
          <p:nvPr/>
        </p:nvSpPr>
        <p:spPr>
          <a:xfrm>
            <a:off x="10465308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64" name="Shape 62"/>
          <p:cNvSpPr/>
          <p:nvPr/>
        </p:nvSpPr>
        <p:spPr>
          <a:xfrm>
            <a:off x="10730484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65" name="Shape 63"/>
          <p:cNvSpPr/>
          <p:nvPr/>
        </p:nvSpPr>
        <p:spPr>
          <a:xfrm>
            <a:off x="10995660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66" name="Shape 64"/>
          <p:cNvSpPr/>
          <p:nvPr/>
        </p:nvSpPr>
        <p:spPr>
          <a:xfrm>
            <a:off x="11260836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67" name="Shape 65"/>
          <p:cNvSpPr/>
          <p:nvPr/>
        </p:nvSpPr>
        <p:spPr>
          <a:xfrm>
            <a:off x="11526012" y="349758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68" name="Shape 66"/>
          <p:cNvSpPr/>
          <p:nvPr/>
        </p:nvSpPr>
        <p:spPr>
          <a:xfrm>
            <a:off x="6487668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69" name="Shape 67"/>
          <p:cNvSpPr/>
          <p:nvPr/>
        </p:nvSpPr>
        <p:spPr>
          <a:xfrm>
            <a:off x="6752844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70" name="Shape 68"/>
          <p:cNvSpPr/>
          <p:nvPr/>
        </p:nvSpPr>
        <p:spPr>
          <a:xfrm>
            <a:off x="7018020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71" name="Shape 69"/>
          <p:cNvSpPr/>
          <p:nvPr/>
        </p:nvSpPr>
        <p:spPr>
          <a:xfrm>
            <a:off x="7283196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72" name="Shape 70"/>
          <p:cNvSpPr/>
          <p:nvPr/>
        </p:nvSpPr>
        <p:spPr>
          <a:xfrm>
            <a:off x="7548372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73" name="Shape 71"/>
          <p:cNvSpPr/>
          <p:nvPr/>
        </p:nvSpPr>
        <p:spPr>
          <a:xfrm>
            <a:off x="7813548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74" name="Shape 72"/>
          <p:cNvSpPr/>
          <p:nvPr/>
        </p:nvSpPr>
        <p:spPr>
          <a:xfrm>
            <a:off x="8078724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75" name="Shape 73"/>
          <p:cNvSpPr/>
          <p:nvPr/>
        </p:nvSpPr>
        <p:spPr>
          <a:xfrm>
            <a:off x="8343900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76" name="Shape 74"/>
          <p:cNvSpPr/>
          <p:nvPr/>
        </p:nvSpPr>
        <p:spPr>
          <a:xfrm>
            <a:off x="8609076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77" name="Shape 75"/>
          <p:cNvSpPr/>
          <p:nvPr/>
        </p:nvSpPr>
        <p:spPr>
          <a:xfrm>
            <a:off x="8874252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78" name="Shape 76"/>
          <p:cNvSpPr/>
          <p:nvPr/>
        </p:nvSpPr>
        <p:spPr>
          <a:xfrm>
            <a:off x="9139428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79" name="Shape 77"/>
          <p:cNvSpPr/>
          <p:nvPr/>
        </p:nvSpPr>
        <p:spPr>
          <a:xfrm>
            <a:off x="9404604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80" name="Shape 78"/>
          <p:cNvSpPr/>
          <p:nvPr/>
        </p:nvSpPr>
        <p:spPr>
          <a:xfrm>
            <a:off x="9669780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81" name="Shape 79"/>
          <p:cNvSpPr/>
          <p:nvPr/>
        </p:nvSpPr>
        <p:spPr>
          <a:xfrm>
            <a:off x="9934956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82" name="Shape 80"/>
          <p:cNvSpPr/>
          <p:nvPr/>
        </p:nvSpPr>
        <p:spPr>
          <a:xfrm>
            <a:off x="10200132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83" name="Shape 81"/>
          <p:cNvSpPr/>
          <p:nvPr/>
        </p:nvSpPr>
        <p:spPr>
          <a:xfrm>
            <a:off x="10465308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84" name="Shape 82"/>
          <p:cNvSpPr/>
          <p:nvPr/>
        </p:nvSpPr>
        <p:spPr>
          <a:xfrm>
            <a:off x="10730484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85" name="Shape 83"/>
          <p:cNvSpPr/>
          <p:nvPr/>
        </p:nvSpPr>
        <p:spPr>
          <a:xfrm>
            <a:off x="10995660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86" name="Shape 84"/>
          <p:cNvSpPr/>
          <p:nvPr/>
        </p:nvSpPr>
        <p:spPr>
          <a:xfrm>
            <a:off x="11260836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87" name="Shape 85"/>
          <p:cNvSpPr/>
          <p:nvPr/>
        </p:nvSpPr>
        <p:spPr>
          <a:xfrm>
            <a:off x="11526012" y="383590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88" name="Shape 86"/>
          <p:cNvSpPr/>
          <p:nvPr/>
        </p:nvSpPr>
        <p:spPr>
          <a:xfrm>
            <a:off x="6487668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89" name="Shape 87"/>
          <p:cNvSpPr/>
          <p:nvPr/>
        </p:nvSpPr>
        <p:spPr>
          <a:xfrm>
            <a:off x="6752844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90" name="Shape 88"/>
          <p:cNvSpPr/>
          <p:nvPr/>
        </p:nvSpPr>
        <p:spPr>
          <a:xfrm>
            <a:off x="7018020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91" name="Shape 89"/>
          <p:cNvSpPr/>
          <p:nvPr/>
        </p:nvSpPr>
        <p:spPr>
          <a:xfrm>
            <a:off x="7283196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92" name="Shape 90"/>
          <p:cNvSpPr/>
          <p:nvPr/>
        </p:nvSpPr>
        <p:spPr>
          <a:xfrm>
            <a:off x="7548372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93" name="Shape 91"/>
          <p:cNvSpPr/>
          <p:nvPr/>
        </p:nvSpPr>
        <p:spPr>
          <a:xfrm>
            <a:off x="7813548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94" name="Shape 92"/>
          <p:cNvSpPr/>
          <p:nvPr/>
        </p:nvSpPr>
        <p:spPr>
          <a:xfrm>
            <a:off x="8023860" y="4119372"/>
            <a:ext cx="201168" cy="201168"/>
          </a:xfrm>
          <a:prstGeom prst="ellipse">
            <a:avLst/>
          </a:prstGeom>
          <a:solidFill>
            <a:srgbClr val="FF2D4A"/>
          </a:solidFill>
          <a:ln/>
        </p:spPr>
      </p:sp>
      <p:sp>
        <p:nvSpPr>
          <p:cNvPr id="95" name="Shape 93"/>
          <p:cNvSpPr/>
          <p:nvPr/>
        </p:nvSpPr>
        <p:spPr>
          <a:xfrm>
            <a:off x="8343900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96" name="Shape 94"/>
          <p:cNvSpPr/>
          <p:nvPr/>
        </p:nvSpPr>
        <p:spPr>
          <a:xfrm>
            <a:off x="8609076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97" name="Shape 95"/>
          <p:cNvSpPr/>
          <p:nvPr/>
        </p:nvSpPr>
        <p:spPr>
          <a:xfrm>
            <a:off x="8874252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98" name="Shape 96"/>
          <p:cNvSpPr/>
          <p:nvPr/>
        </p:nvSpPr>
        <p:spPr>
          <a:xfrm>
            <a:off x="9139428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99" name="Shape 97"/>
          <p:cNvSpPr/>
          <p:nvPr/>
        </p:nvSpPr>
        <p:spPr>
          <a:xfrm>
            <a:off x="9404604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00" name="Shape 98"/>
          <p:cNvSpPr/>
          <p:nvPr/>
        </p:nvSpPr>
        <p:spPr>
          <a:xfrm>
            <a:off x="9669780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01" name="Shape 99"/>
          <p:cNvSpPr/>
          <p:nvPr/>
        </p:nvSpPr>
        <p:spPr>
          <a:xfrm>
            <a:off x="9934956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200132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465308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730484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995660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260836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526012" y="417423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487668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752844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7018020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283196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7548372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7813548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078724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8343900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8609076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17" name="Shape 115"/>
          <p:cNvSpPr/>
          <p:nvPr/>
        </p:nvSpPr>
        <p:spPr>
          <a:xfrm>
            <a:off x="8874252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9139428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19" name="Shape 117"/>
          <p:cNvSpPr/>
          <p:nvPr/>
        </p:nvSpPr>
        <p:spPr>
          <a:xfrm>
            <a:off x="9404604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20" name="Shape 118"/>
          <p:cNvSpPr/>
          <p:nvPr/>
        </p:nvSpPr>
        <p:spPr>
          <a:xfrm>
            <a:off x="9669780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9934956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0200132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0465308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0730484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0995660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1260836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1526012" y="4512564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487668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752844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30" name="Shape 128"/>
          <p:cNvSpPr/>
          <p:nvPr/>
        </p:nvSpPr>
        <p:spPr>
          <a:xfrm>
            <a:off x="7018020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31" name="Shape 129"/>
          <p:cNvSpPr/>
          <p:nvPr/>
        </p:nvSpPr>
        <p:spPr>
          <a:xfrm>
            <a:off x="7283196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32" name="Shape 130"/>
          <p:cNvSpPr/>
          <p:nvPr/>
        </p:nvSpPr>
        <p:spPr>
          <a:xfrm>
            <a:off x="7548372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33" name="Shape 131"/>
          <p:cNvSpPr/>
          <p:nvPr/>
        </p:nvSpPr>
        <p:spPr>
          <a:xfrm>
            <a:off x="7813548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34" name="Shape 132"/>
          <p:cNvSpPr/>
          <p:nvPr/>
        </p:nvSpPr>
        <p:spPr>
          <a:xfrm>
            <a:off x="8078724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35" name="Shape 133"/>
          <p:cNvSpPr/>
          <p:nvPr/>
        </p:nvSpPr>
        <p:spPr>
          <a:xfrm>
            <a:off x="8343900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36" name="Shape 134"/>
          <p:cNvSpPr/>
          <p:nvPr/>
        </p:nvSpPr>
        <p:spPr>
          <a:xfrm>
            <a:off x="8609076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37" name="Shape 135"/>
          <p:cNvSpPr/>
          <p:nvPr/>
        </p:nvSpPr>
        <p:spPr>
          <a:xfrm>
            <a:off x="8874252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139428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39" name="Shape 137"/>
          <p:cNvSpPr/>
          <p:nvPr/>
        </p:nvSpPr>
        <p:spPr>
          <a:xfrm>
            <a:off x="9404604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40" name="Shape 138"/>
          <p:cNvSpPr/>
          <p:nvPr/>
        </p:nvSpPr>
        <p:spPr>
          <a:xfrm>
            <a:off x="9669780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41" name="Shape 139"/>
          <p:cNvSpPr/>
          <p:nvPr/>
        </p:nvSpPr>
        <p:spPr>
          <a:xfrm>
            <a:off x="9934956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42" name="Shape 140"/>
          <p:cNvSpPr/>
          <p:nvPr/>
        </p:nvSpPr>
        <p:spPr>
          <a:xfrm>
            <a:off x="10200132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43" name="Shape 141"/>
          <p:cNvSpPr/>
          <p:nvPr/>
        </p:nvSpPr>
        <p:spPr>
          <a:xfrm>
            <a:off x="10465308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44" name="Shape 142"/>
          <p:cNvSpPr/>
          <p:nvPr/>
        </p:nvSpPr>
        <p:spPr>
          <a:xfrm>
            <a:off x="10730484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0995660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46" name="Shape 144"/>
          <p:cNvSpPr/>
          <p:nvPr/>
        </p:nvSpPr>
        <p:spPr>
          <a:xfrm>
            <a:off x="11260836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47" name="Shape 145"/>
          <p:cNvSpPr/>
          <p:nvPr/>
        </p:nvSpPr>
        <p:spPr>
          <a:xfrm>
            <a:off x="11526012" y="4850892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48" name="Shape 146"/>
          <p:cNvSpPr/>
          <p:nvPr/>
        </p:nvSpPr>
        <p:spPr>
          <a:xfrm>
            <a:off x="6487668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49" name="Shape 147"/>
          <p:cNvSpPr/>
          <p:nvPr/>
        </p:nvSpPr>
        <p:spPr>
          <a:xfrm>
            <a:off x="6752844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018020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283196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548372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13548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54" name="Shape 152"/>
          <p:cNvSpPr/>
          <p:nvPr/>
        </p:nvSpPr>
        <p:spPr>
          <a:xfrm>
            <a:off x="8078724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55" name="Shape 153"/>
          <p:cNvSpPr/>
          <p:nvPr/>
        </p:nvSpPr>
        <p:spPr>
          <a:xfrm>
            <a:off x="8343900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56" name="Shape 154"/>
          <p:cNvSpPr/>
          <p:nvPr/>
        </p:nvSpPr>
        <p:spPr>
          <a:xfrm>
            <a:off x="8609076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57" name="Shape 155"/>
          <p:cNvSpPr/>
          <p:nvPr/>
        </p:nvSpPr>
        <p:spPr>
          <a:xfrm>
            <a:off x="8874252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58" name="Shape 156"/>
          <p:cNvSpPr/>
          <p:nvPr/>
        </p:nvSpPr>
        <p:spPr>
          <a:xfrm>
            <a:off x="9139428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59" name="Shape 157"/>
          <p:cNvSpPr/>
          <p:nvPr/>
        </p:nvSpPr>
        <p:spPr>
          <a:xfrm>
            <a:off x="9404604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60" name="Shape 158"/>
          <p:cNvSpPr/>
          <p:nvPr/>
        </p:nvSpPr>
        <p:spPr>
          <a:xfrm>
            <a:off x="9669780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61" name="Shape 159"/>
          <p:cNvSpPr/>
          <p:nvPr/>
        </p:nvSpPr>
        <p:spPr>
          <a:xfrm>
            <a:off x="9934956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0200132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0465308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0730484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65" name="Shape 163"/>
          <p:cNvSpPr/>
          <p:nvPr/>
        </p:nvSpPr>
        <p:spPr>
          <a:xfrm>
            <a:off x="10995660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66" name="Shape 164"/>
          <p:cNvSpPr/>
          <p:nvPr/>
        </p:nvSpPr>
        <p:spPr>
          <a:xfrm>
            <a:off x="11260836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67" name="Shape 165"/>
          <p:cNvSpPr/>
          <p:nvPr/>
        </p:nvSpPr>
        <p:spPr>
          <a:xfrm>
            <a:off x="11526012" y="5189220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68" name="Shape 166"/>
          <p:cNvSpPr/>
          <p:nvPr/>
        </p:nvSpPr>
        <p:spPr>
          <a:xfrm>
            <a:off x="6487668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69" name="Shape 167"/>
          <p:cNvSpPr/>
          <p:nvPr/>
        </p:nvSpPr>
        <p:spPr>
          <a:xfrm>
            <a:off x="6752844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70" name="Shape 168"/>
          <p:cNvSpPr/>
          <p:nvPr/>
        </p:nvSpPr>
        <p:spPr>
          <a:xfrm>
            <a:off x="7018020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71" name="Shape 169"/>
          <p:cNvSpPr/>
          <p:nvPr/>
        </p:nvSpPr>
        <p:spPr>
          <a:xfrm>
            <a:off x="7283196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72" name="Shape 170"/>
          <p:cNvSpPr/>
          <p:nvPr/>
        </p:nvSpPr>
        <p:spPr>
          <a:xfrm>
            <a:off x="7548372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73" name="Shape 171"/>
          <p:cNvSpPr/>
          <p:nvPr/>
        </p:nvSpPr>
        <p:spPr>
          <a:xfrm>
            <a:off x="7813548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078724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343900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609076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74252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78" name="Shape 176"/>
          <p:cNvSpPr/>
          <p:nvPr/>
        </p:nvSpPr>
        <p:spPr>
          <a:xfrm>
            <a:off x="9139428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79" name="Shape 177"/>
          <p:cNvSpPr/>
          <p:nvPr/>
        </p:nvSpPr>
        <p:spPr>
          <a:xfrm>
            <a:off x="9404604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80" name="Shape 178"/>
          <p:cNvSpPr/>
          <p:nvPr/>
        </p:nvSpPr>
        <p:spPr>
          <a:xfrm>
            <a:off x="9669780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81" name="Shape 179"/>
          <p:cNvSpPr/>
          <p:nvPr/>
        </p:nvSpPr>
        <p:spPr>
          <a:xfrm>
            <a:off x="9934956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82" name="Shape 180"/>
          <p:cNvSpPr/>
          <p:nvPr/>
        </p:nvSpPr>
        <p:spPr>
          <a:xfrm>
            <a:off x="10200132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83" name="Shape 181"/>
          <p:cNvSpPr/>
          <p:nvPr/>
        </p:nvSpPr>
        <p:spPr>
          <a:xfrm>
            <a:off x="10465308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84" name="Shape 182"/>
          <p:cNvSpPr/>
          <p:nvPr/>
        </p:nvSpPr>
        <p:spPr>
          <a:xfrm>
            <a:off x="10730484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85" name="Shape 183"/>
          <p:cNvSpPr/>
          <p:nvPr/>
        </p:nvSpPr>
        <p:spPr>
          <a:xfrm>
            <a:off x="10995660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86" name="Shape 184"/>
          <p:cNvSpPr/>
          <p:nvPr/>
        </p:nvSpPr>
        <p:spPr>
          <a:xfrm>
            <a:off x="11260836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87" name="Shape 185"/>
          <p:cNvSpPr/>
          <p:nvPr/>
        </p:nvSpPr>
        <p:spPr>
          <a:xfrm>
            <a:off x="11526012" y="5527548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88" name="Shape 186"/>
          <p:cNvSpPr/>
          <p:nvPr/>
        </p:nvSpPr>
        <p:spPr>
          <a:xfrm>
            <a:off x="6487668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89" name="Shape 187"/>
          <p:cNvSpPr/>
          <p:nvPr/>
        </p:nvSpPr>
        <p:spPr>
          <a:xfrm>
            <a:off x="6752844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90" name="Shape 188"/>
          <p:cNvSpPr/>
          <p:nvPr/>
        </p:nvSpPr>
        <p:spPr>
          <a:xfrm>
            <a:off x="7018020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91" name="Shape 189"/>
          <p:cNvSpPr/>
          <p:nvPr/>
        </p:nvSpPr>
        <p:spPr>
          <a:xfrm>
            <a:off x="7283196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92" name="Shape 190"/>
          <p:cNvSpPr/>
          <p:nvPr/>
        </p:nvSpPr>
        <p:spPr>
          <a:xfrm>
            <a:off x="7548372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93" name="Shape 191"/>
          <p:cNvSpPr/>
          <p:nvPr/>
        </p:nvSpPr>
        <p:spPr>
          <a:xfrm>
            <a:off x="7813548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94" name="Shape 192"/>
          <p:cNvSpPr/>
          <p:nvPr/>
        </p:nvSpPr>
        <p:spPr>
          <a:xfrm>
            <a:off x="8078724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95" name="Shape 193"/>
          <p:cNvSpPr/>
          <p:nvPr/>
        </p:nvSpPr>
        <p:spPr>
          <a:xfrm>
            <a:off x="8343900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96" name="Shape 194"/>
          <p:cNvSpPr/>
          <p:nvPr/>
        </p:nvSpPr>
        <p:spPr>
          <a:xfrm>
            <a:off x="8609076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97" name="Shape 195"/>
          <p:cNvSpPr/>
          <p:nvPr/>
        </p:nvSpPr>
        <p:spPr>
          <a:xfrm>
            <a:off x="8874252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98" name="Shape 196"/>
          <p:cNvSpPr/>
          <p:nvPr/>
        </p:nvSpPr>
        <p:spPr>
          <a:xfrm>
            <a:off x="9139428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199" name="Shape 197"/>
          <p:cNvSpPr/>
          <p:nvPr/>
        </p:nvSpPr>
        <p:spPr>
          <a:xfrm>
            <a:off x="9404604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00" name="Shape 198"/>
          <p:cNvSpPr/>
          <p:nvPr/>
        </p:nvSpPr>
        <p:spPr>
          <a:xfrm>
            <a:off x="9669780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01" name="Shape 199"/>
          <p:cNvSpPr/>
          <p:nvPr/>
        </p:nvSpPr>
        <p:spPr>
          <a:xfrm>
            <a:off x="9934956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02" name="Shape 200"/>
          <p:cNvSpPr/>
          <p:nvPr/>
        </p:nvSpPr>
        <p:spPr>
          <a:xfrm>
            <a:off x="10200132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03" name="Shape 201"/>
          <p:cNvSpPr/>
          <p:nvPr/>
        </p:nvSpPr>
        <p:spPr>
          <a:xfrm>
            <a:off x="10465308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04" name="Shape 202"/>
          <p:cNvSpPr/>
          <p:nvPr/>
        </p:nvSpPr>
        <p:spPr>
          <a:xfrm>
            <a:off x="10730484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05" name="Shape 203"/>
          <p:cNvSpPr/>
          <p:nvPr/>
        </p:nvSpPr>
        <p:spPr>
          <a:xfrm>
            <a:off x="10995660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06" name="Shape 204"/>
          <p:cNvSpPr/>
          <p:nvPr/>
        </p:nvSpPr>
        <p:spPr>
          <a:xfrm>
            <a:off x="11260836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07" name="Shape 205"/>
          <p:cNvSpPr/>
          <p:nvPr/>
        </p:nvSpPr>
        <p:spPr>
          <a:xfrm>
            <a:off x="11526012" y="5865876"/>
            <a:ext cx="91440" cy="91440"/>
          </a:xfrm>
          <a:prstGeom prst="ellipse">
            <a:avLst/>
          </a:prstGeom>
          <a:solidFill>
            <a:srgbClr val="22E07A"/>
          </a:solidFill>
          <a:ln/>
        </p:spPr>
      </p:sp>
      <p:sp>
        <p:nvSpPr>
          <p:cNvPr id="208" name="Text 206"/>
          <p:cNvSpPr txBox="1"/>
          <p:nvPr/>
        </p:nvSpPr>
        <p:spPr>
          <a:xfrm>
            <a:off x="6400800" y="6172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patched &amp; verified    ⬤ one device PreVent is patching today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</a:t>
            </a:r>
            <a:pPr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 THE CLOSE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devices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11274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themselves.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175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hole. Prove the kill. Close it. Show the receipt.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5168" y="3840480"/>
            <a:ext cx="2651760" cy="2377440"/>
          </a:xfrm>
          <a:prstGeom prst="rect">
            <a:avLst/>
          </a:prstGeom>
          <a:solidFill>
            <a:srgbClr val="101013"/>
          </a:solidFill>
          <a:ln w="12700">
            <a:solidFill>
              <a:srgbClr val="2B2B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3768" y="4023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83768" y="43891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Israel
</a:t>
            </a:r>
            <a:pPr indent="0" marL="0">
              <a:buNone/>
            </a:pPr>
            <a:r>
              <a:rPr lang="en-US" sz="2200" i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Ogwu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83768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· ORCHESTRATION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83768" y="5715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UMD · Anthropic Campus Ambassador · Claude Builder Club.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98368" y="3840480"/>
            <a:ext cx="2651760" cy="2377440"/>
          </a:xfrm>
          <a:prstGeom prst="rect">
            <a:avLst/>
          </a:prstGeom>
          <a:solidFill>
            <a:srgbClr val="101013"/>
          </a:solidFill>
          <a:ln w="12700">
            <a:solidFill>
              <a:srgbClr val="2B2B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26968" y="4023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26968" y="43891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Christian
</a:t>
            </a:r>
            <a:pPr indent="0" marL="0">
              <a:buNone/>
            </a:pPr>
            <a:r>
              <a:rPr lang="en-US" sz="2200" i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Ibarbia Ruiz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626968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· INTEGRATION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626968" y="5715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· ex-Google Gmail · agentic full-stack.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41568" y="3840480"/>
            <a:ext cx="2651760" cy="2377440"/>
          </a:xfrm>
          <a:prstGeom prst="rect">
            <a:avLst/>
          </a:prstGeom>
          <a:solidFill>
            <a:srgbClr val="101013"/>
          </a:solidFill>
          <a:ln w="12700">
            <a:solidFill>
              <a:srgbClr val="2B2B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168" y="4023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370168" y="43891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Saketh
</a:t>
            </a:r>
            <a:pPr indent="0" marL="0">
              <a:buNone/>
            </a:pPr>
            <a:r>
              <a:rPr lang="en-US" sz="2200" i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Poori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370168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 · SIMULATION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370168" y="5715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hackathons · 8 awards · CV + hardware.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84768" y="3840480"/>
            <a:ext cx="2651760" cy="2377440"/>
          </a:xfrm>
          <a:prstGeom prst="rect">
            <a:avLst/>
          </a:prstGeom>
          <a:solidFill>
            <a:srgbClr val="101013"/>
          </a:solidFill>
          <a:ln w="12700">
            <a:solidFill>
              <a:srgbClr val="2B2B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13368" y="4023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113368" y="43891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Sanjavan
</a:t>
            </a:r>
            <a:pPr indent="0" marL="0">
              <a:buNone/>
            </a:pPr>
            <a:r>
              <a:rPr lang="en-US" sz="2200" i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Ghodasara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113368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REALTIME · FRONTEND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13368" y="5715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Stevens MS ML · 8+ hackathon wins.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PreVent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PreVent — autonomous medical-device security</dc:title>
  <dc:subject>Cal Hacks 13.0 · Oct 2026</dc:subject>
  <dc:creator>The PreVent Team</dc:creator>
  <cp:lastModifiedBy>The PreVent Team</cp:lastModifiedBy>
  <cp:revision>1</cp:revision>
  <dcterms:created xsi:type="dcterms:W3CDTF">2026-10-24T20:15:33Z</dcterms:created>
  <dcterms:modified xsi:type="dcterms:W3CDTF">2026-10-24T20:15:33Z</dcterms:modified>
</cp:coreProperties>
</file>